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개요 문서의 순서를 따라 baking_pilot의 기존 결과를 요약했다. Block/HuGS/Robust는 원 논문 전체의 재현이 아닌 평면 베이킹용 변형이다. 상세 수식과 예외 처리는 baking_pilot/latex/BASELINE_MATH.md, 실험 해석은 PROJECT.md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목표: Texture에서 Dynamic Object 제거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개요: ppt_개요.docx | 실험 근거: baking_pilot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• 다중 시기 관측에서 차량 등 동적 물체가 텍스처에 남는 문제</a:t>
            </a:r>
          </a:p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• 정적 배경 관측을 선택해 깨끗한 지면 텍스처를 생성</a:t>
            </a:r>
          </a:p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• 이번 범위: 평면 메쉬의 텍스처 베이킹 파일럿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3322319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차량이 포함된 관측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3839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9600" y="4480560"/>
            <a:ext cx="3322319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정적 관측 선택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1919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4480560"/>
            <a:ext cx="3322319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배경 Texture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접근 경로: Baking 단계에서 관측을 선택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• 경로 1 · Semantic conditioning 단계에서 동적 물체 억제</a:t>
            </a:r>
          </a:p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• 경로 2 · Baking 단계에서 동적 픽셀의 기여도 억제 → 선택</a:t>
            </a:r>
          </a:p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• S를 바꿔가며 동적 물체 제거와 정적 영역 보존을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입력 이미지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182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758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S 생성 / 갱신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가중 손실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394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970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Texture 최적화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핵심 아이디어: S로 픽셀의 기여도를 조절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latex/BASELINE_MATH.md — 공통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515600" cy="10972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500" b="1">
                <a:solidFill>
                  <a:srgbClr val="172B45"/>
                </a:solidFill>
                <a:latin typeface="맑은 고딕"/>
              </a:defRPr>
            </a:pPr>
            <a:r>
              <a:t>Ldata = Σ Vᵢ(r) Sᵢ(r) · ⅓ ‖Iref,ᵢ(r) − Ipred,ᵢ(r)‖² / Σ Vᵢ(r)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S → 0 : 동적 픽셀의 손실 기여를 억제</a:t>
            </a:r>
          </a:p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S → 1 : 정적 배경 관측을 적극 사용</a:t>
            </a:r>
          </a:p>
          <a:p>
            <a:pPr>
              <a:spcAft>
                <a:spcPts val="1200"/>
              </a:spcAft>
              <a:defRPr sz="2300" b="0">
                <a:solidFill>
                  <a:srgbClr val="172B45"/>
                </a:solidFill>
                <a:latin typeface="맑은 고딕"/>
              </a:defRPr>
            </a:pPr>
            <a:r>
              <a:t>Ipred는 현재 Texture를 카메라에 렌더한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26172"/>
                </a:solidFill>
                <a:latin typeface="맑은 고딕"/>
              </a:defRPr>
            </a:pPr>
            <a:r>
              <a:t>V: 유효 관측 마스크 · 실제 학습에는 카메라 색변환 정규화도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기준선: S = 1이면 차량도 함께 Baking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latex/BASELINE_MATH.md §1–2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• 모든 유효 픽셀에 같은 가중치: Sᵢ(r) = 1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• 고정된 한 texel의 단순화된 L2 해는 관측의 산술평균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• 차량 색이 평균에 포함되어 흐릿한 잔상으로 남을 수 있음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• 시간 중앙값도 비교: 배경 관측이 다수일 때 강한 기준선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3322319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배경 + 차량 관측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3839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9600" y="4480560"/>
            <a:ext cx="3322319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동일 가중치로 평균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1919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4480560"/>
            <a:ext cx="3322319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차량 흔적이 남는 Texture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S 설정 ① Block-NeRF형: 차량 검출 마스크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Block-NeRF (2022), arxiv.org/abs/2202.05263 | 구현: pilot.py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0" cy="822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 b="1">
                <a:solidFill>
                  <a:srgbClr val="172B45"/>
                </a:solidFill>
                <a:latin typeface="맑은 고딕"/>
              </a:defRPr>
            </a:pPr>
            <a:r>
              <a:t>Sᵢ = 1 − Dᵢ  ·  Dᵢ: 차량 OBB 합집합을 5×5 팽창한 마스크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DOTA YOLO11s-OBB를 각 사선 입력에 독립 적용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차량으로 검출된 픽셀을 제외하고 배경을 학습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검출 누락과 차량 그림자는 남을 수 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입력 이미지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2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758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차량 검출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반전 S = 1−D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394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70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Baking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172"/>
                </a:solidFill>
                <a:latin typeface="맑은 고딕"/>
              </a:defRPr>
            </a:pPr>
            <a:r>
              <a:t>원 논문의 Panoptic-DeepLab을 대체한 파일럿이며 전체 NeRF 재현이 아님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S 설정 ② HuGS형: 특징점 · 잔차 · SAM 결합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github.com/cnhaox/NeRF-HuGS — HuGS/generate_static_mask.py | pilot.py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15600" cy="11887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300" b="1">
                <a:solidFill>
                  <a:srgbClr val="172B45"/>
                </a:solidFill>
                <a:latin typeface="맑은 고딕"/>
              </a:defRPr>
            </a:pPr>
            <a:r>
              <a:t>C = {ε ≤ μ},  Q = {ε ≤ q95} ∪ C,  H⁰ = (F ∪ C) ∩ Q</a:t>
            </a:r>
          </a:p>
          <a:p>
            <a:pPr>
              <a:spcAft>
                <a:spcPts val="1200"/>
              </a:spcAft>
              <a:defRPr sz="2300" b="1">
                <a:solidFill>
                  <a:srgbClr val="172B45"/>
                </a:solidFill>
                <a:latin typeface="맑은 고딕"/>
              </a:defRPr>
            </a:pPr>
            <a:r>
              <a:t>H = H⁰ ∪ {B₇(1H⁰) ≥ 0.5}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F: 5개 이상 영상에서 지지된 SIFT 점을 SAM prompt로 사용</a:t>
            </a:r>
          </a:p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SAM 영역 중 H와 겹치는 비율 ≥ 0.5인 영역을 선택 → 5×5 erosion</a:t>
            </a:r>
          </a:p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ε: L2 warm-up RMS 잔차 · μ: 평균 · q95: 95분위수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SIFT 지지 + 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2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758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낮은 잔차 결합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영역 단위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394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70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다시 Baking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172"/>
                </a:solidFill>
                <a:latin typeface="맑은 고딕"/>
              </a:defRPr>
            </a:pPr>
            <a:r>
              <a:t>3D SfM track 대신 2D 매칭 지지를 사용 · 반복 차량을 정적으로 선택할 가능성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S 설정 ③ RobustNeRF형: 잔차와 공간 문맥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github.com/google-research/multinerf — internal/robustnerf.py | pilot.py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15600" cy="12801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300" b="1">
                <a:solidFill>
                  <a:srgbClr val="172B45"/>
                </a:solidFill>
                <a:latin typeface="맑은 고딕"/>
              </a:defRPr>
            </a:pPr>
            <a:r>
              <a:t>τᵢ = median(εᵢ),  aᵢ = Vᵢ · 1[εᵢ ≤ τᵢ]</a:t>
            </a:r>
          </a:p>
          <a:p>
            <a:pPr>
              <a:spcAft>
                <a:spcPts val="1200"/>
              </a:spcAft>
              <a:defRPr sz="2300" b="1">
                <a:solidFill>
                  <a:srgbClr val="172B45"/>
                </a:solidFill>
                <a:latin typeface="맑은 고딕"/>
              </a:defRPr>
            </a:pPr>
            <a:r>
              <a:t>Wᵢ = 1[B₃(aᵢ) ≥ 0.5],  Sᵢ = stopgrad(1[B₁₆(Wᵢ)(p₈) ≥ 0.6])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Bₖ: k×k box 평균 · p₈: 8×8 타일 중심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매 반복 S를 갱신하되 S의 gradient는 차단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반복 관측된 차량은 잔차가 작아 inlier로 남을 수 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현재 예측의 잔차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2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758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중앙값으로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공간 문맥 / 타일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394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70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S 갱신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S 설정 ④ Geometry mask: UV 마스크를 시점에 공유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PROJECT.md Method | latex/BASELINE_MATH.md §8–10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0" cy="9144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700" b="1">
                <a:solidFill>
                  <a:srgbClr val="172B45"/>
                </a:solidFill>
                <a:latin typeface="맑은 고딕"/>
              </a:defRPr>
            </a:pPr>
            <a:r>
              <a:t>Sgeo,t,c(r) = 1[Dₜ(φc(r)) ≤ 0.05]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원본 정사영상의 차량 마스크 D를 알려진 homography로 투영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같은 연도의 네 합성 카메라가 같은 차량 검출을 공유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변형: UV fusion 초기값 적용 / 미관측부에 TV + anchor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원본 UV의 Dₜ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2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758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카메라에 투영 φc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시점 간 일관된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394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70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Baking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S 설정 ⑤ UV fusion: 배경 관측을 직접 합성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PROJECT.md Method | latex/BASELINE_MATH.md §6–7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15600" cy="10058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400" b="1">
                <a:solidFill>
                  <a:srgbClr val="172B45"/>
                </a:solidFill>
                <a:latin typeface="맑은 고딕"/>
              </a:defRPr>
            </a:pPr>
            <a:r>
              <a:t>Cₜ = 1 − Dₜ,  n = Σₜ Cₜ</a:t>
            </a:r>
          </a:p>
          <a:p>
            <a:pPr>
              <a:spcAft>
                <a:spcPts val="1200"/>
              </a:spcAft>
              <a:defRPr sz="2400" b="1">
                <a:solidFill>
                  <a:srgbClr val="172B45"/>
                </a:solidFill>
                <a:latin typeface="맑은 고딕"/>
              </a:defRPr>
            </a:pPr>
            <a:r>
              <a:t>Fₖ(u) = medianₜ:Cₜ(u)=1 Jₜ,ₖ(u)  (n &gt;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차량이 아닌 관측만 합성 · n = 0이면 4이웃 조화 보간 256회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Shadow guard: 차량 주변 18 texel, 밝기 &lt; 주변 평균 × 0.72도 제외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전체 NeRF 학습 없이 공통 UV에서 직접 Texture를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UV 관측 +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2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758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배경만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미관측부 보간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394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72B4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700" y="4480560"/>
            <a:ext cx="24003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72B45"/>
                </a:solidFill>
                <a:latin typeface="맑은 고딕"/>
              </a:defRPr>
            </a:pPr>
            <a:r>
              <a:t>Texture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26172"/>
                </a:solidFill>
                <a:latin typeface="맑은 고딕"/>
              </a:defRPr>
            </a:pPr>
            <a:r>
              <a:t>미관측 영역의 보간값은 실제 배경의 정답 복원을 뜻하지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실험 설정: 실제 연도 영상으로 Baking을 모사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PROJECT.md, PROJECT_EASY_PILOT.md | 영상: © Beeldmateriaal Nederland / PDOK, CC BY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데이터: PDOK 네덜란드 항공 정사영상 · 2021–2026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학습 2021–2025 / 평가 2026 · 쉬운 주차장 1개 + 고점유 B/C 2개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연도별 0° / 20° / 35° / 45° 합성 카메라 → 학습 입력 20장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평면 메쉬 · 512² 파라미터 → 1024² 텍스처 · 카메라별 색보정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학습형: Adam 600회, batch 4 · Hard는 seed 42/43/44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실제 사선 촬영과 3D parallax는 이 실험 범위 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S 시각화: 선택에서 제외되는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latex/assets/industrial_c_exclusion_masks.jpg | © Beeldmateriaal Nederland / PDOK, CC BY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6" name="Picture 5" descr="industrial_c_exclusion_mas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3" y="1417320"/>
            <a:ext cx="1031443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72B45"/>
                </a:solidFill>
                <a:latin typeface="맑은 고딕"/>
              </a:defRPr>
            </a:pPr>
            <a:r>
              <a:t>고점유 장면 C · 빨강은 제외 영역(1−S) · 방법마다 제외 범위와 누락이 다름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초기 실험: 배경 관측이 많은 장면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SUMMARY.md, latex/easy_table.tex | 차량 16개 중심 원 표본, seed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방법</a:t>
                      </a:r>
                    </a:p>
                  </a:txBody>
                  <a:tcPr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차량 표본 PSNR ↑</a:t>
                      </a:r>
                    </a:p>
                  </a:txBody>
                  <a:tcPr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지면 PSNR ↑</a:t>
                      </a:r>
                    </a:p>
                  </a:txBody>
                  <a:tcPr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지면 SSIM ↑</a:t>
                      </a:r>
                    </a:p>
                  </a:txBody>
                  <a:tcPr>
                    <a:solidFill>
                      <a:srgbClr val="17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27.27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30.38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Block형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31.56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30.85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0.934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HuGS형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32.81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32.45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0.931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Robust형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38.02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28.06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0.882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시간 중앙값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35.69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37.57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0.974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166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Robust형은 차량 위치 표본에 강하지만 지면 전체 품질은 저하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지면 기준은 6년 중앙값 consensus로, 시간 중앙값 기준선에 유리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초기 실험 Vis: 차량 흔적과 배경 보존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latex/assets/easy_crops.jpg | © Beeldmateriaal Nederland / PDOK, CC BY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13</a:t>
            </a:r>
          </a:p>
        </p:txBody>
      </p:sp>
      <p:pic>
        <p:nvPicPr>
          <p:cNvPr id="6" name="Picture 5" descr="easy_cr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603" y="1417320"/>
            <a:ext cx="7760313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72B45"/>
                </a:solidFill>
                <a:latin typeface="맑은 고딕"/>
              </a:defRPr>
            </a:pPr>
            <a:r>
              <a:t>같은 위치를 비교: 차량 제거와 차선·지면 디테일 보존을 함께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고점유 실험: 반복 차량에서는 잔차 기반 선택이 실패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PROJECT.md Result | B/C의 3–4회 점유 OBB 4개 / 17개 · PSNR(dB)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6984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방법</a:t>
                      </a:r>
                    </a:p>
                  </a:txBody>
                  <a:tcPr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B: 차량 PSNR ↑</a:t>
                      </a:r>
                    </a:p>
                  </a:txBody>
                  <a:tcPr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C: 차량 PSNR ↑</a:t>
                      </a:r>
                    </a:p>
                  </a:txBody>
                  <a:tcPr>
                    <a:solidFill>
                      <a:srgbClr val="172B4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19.01 ± 0.18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18.69 ± 0.24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Block형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19.94 ± 0.21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20.98 ± 0.19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HuGS형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18.16 ± 0.10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20.89 ± 0.09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Robust형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14.49 ± 0.36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16.00 ± 0.40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UV fusion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20.81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22.10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UV + shadow guard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21.00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22.23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Geometry + prior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20.39 ± 0.23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72B45"/>
                          </a:solidFill>
                          <a:latin typeface="맑은 고딕"/>
                        </a:defRPr>
                      </a:pPr>
                      <a:r>
                        <a:t>21.74 ± 0.11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6692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526172"/>
                </a:solidFill>
                <a:latin typeface="맑은 고딕"/>
              </a:defRPr>
            </a:pPr>
            <a:r>
              <a:t>학습형은 3 seed 평균 ± 표본표준편차 · 직접 fusion은 결정적 1회</a:t>
            </a:r>
          </a:p>
          <a:p>
            <a:pPr>
              <a:spcAft>
                <a:spcPts val="1200"/>
              </a:spcAft>
              <a:defRPr sz="1600" b="0">
                <a:solidFill>
                  <a:srgbClr val="526172"/>
                </a:solidFill>
                <a:latin typeface="맑은 고딕"/>
              </a:defRPr>
            </a:pPr>
            <a:r>
              <a:t>Easy와 평가 영역·참조 영상이 달라 점수의 절대값을 직접 비교하지 않음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고점유 실험 Vis: 같은 차량 위치 확대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latex/assets/improved_crops.jpg | © Beeldmateriaal Nederland / PDOK, CC BY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15</a:t>
            </a:r>
          </a:p>
        </p:txBody>
      </p:sp>
      <p:pic>
        <p:nvPicPr>
          <p:cNvPr id="6" name="Picture 5" descr="improved_cr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407" y="1417320"/>
            <a:ext cx="8508704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989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2B45"/>
                </a:solidFill>
                <a:latin typeface="맑은 고딕"/>
              </a:defRPr>
            </a:pPr>
            <a:r>
              <a:t>첫 두 열: 차량 포함 학습 관측 / 2026 실제 배경 · 주황선: 고정 평가 OBB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고점유 실험 Vis: 전체 장면과 남은 흔적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참조: latex/assets/improved_full.jpg | © Beeldmateriaal Nederland / PDOK, CC BY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16</a:t>
            </a:r>
          </a:p>
        </p:txBody>
      </p:sp>
      <p:pic>
        <p:nvPicPr>
          <p:cNvPr id="6" name="Picture 5" descr="improved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13262"/>
            <a:ext cx="10698479" cy="33114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배경 관측을 골라 합성하면 차량 흔적이 감소</a:t>
            </a:r>
          </a:p>
          <a:p>
            <a:pPr>
              <a:spcAft>
                <a:spcPts val="1200"/>
              </a:spcAft>
              <a:defRPr sz="2200" b="0">
                <a:solidFill>
                  <a:srgbClr val="172B45"/>
                </a:solidFill>
                <a:latin typeface="맑은 고딕"/>
              </a:defRPr>
            </a:pPr>
            <a:r>
              <a:t>일부 어두운 흔적·누락 차량·그림자는 여전히 남음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2B45"/>
                </a:solidFill>
                <a:latin typeface="맑은 고딕"/>
              </a:defRPr>
            </a:pPr>
            <a:r>
              <a:t>분석 및 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2004"/>
          </a:xfrm>
          <a:prstGeom prst="rect">
            <a:avLst/>
          </a:prstGeom>
          <a:solidFill>
            <a:srgbClr val="27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26172"/>
                </a:solidFill>
                <a:latin typeface="맑은 고딕"/>
              </a:defRPr>
            </a:pPr>
            <a:r>
              <a:t>근거: PROJECT.md 해석과 남은 실패 | 아래 향후 계획은 후속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172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분석: S는 차량 다수 관측에서도 배경을 선택할 수 있어야 함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현재 평면 조건: UV fusion이 강한 기준선, shadow guard는 추가 이득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한계: 검출 누락 · 연도별 배경 변화 · 미관측부의 보간 오차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다음 1: 실제 3D 메쉬·사선 사진에서 가림과 투영 오차 검증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다음 2: 차량과 그림자 마스크 개선, 정적 디테일 손상 함께 측정</a:t>
            </a:r>
          </a:p>
          <a:p>
            <a:pPr>
              <a:spcAft>
                <a:spcPts val="1200"/>
              </a:spcAft>
              <a:defRPr sz="2100" b="0">
                <a:solidFill>
                  <a:srgbClr val="172B45"/>
                </a:solidFill>
                <a:latin typeface="맑은 고딕"/>
              </a:defRPr>
            </a:pPr>
            <a:r>
              <a:t>• 다음 3: 미관측 영역을 별도 표시하고 외부 장면으로 일반화 평가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