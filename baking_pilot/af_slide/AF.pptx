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2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1" r:id="rId1"/>
  </p:sldMasterIdLst>
  <p:notesMasterIdLst>
    <p:notesMasterId r:id="rId40"/>
  </p:notesMasterIdLst>
  <p:sldIdLst>
    <p:sldId id="300" r:id="rId34"/>
  </p:sldIdLst>
  <p:sldSz cx="12192000" cy="6858000"/>
  <p:notesSz cx="6797675" cy="992822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85BD"/>
    <a:srgbClr val="254B95"/>
    <a:srgbClr val="4896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703"/>
    <p:restoredTop sz="96376"/>
  </p:normalViewPr>
  <p:slideViewPr>
    <p:cSldViewPr snapToGrid="0">
      <p:cViewPr varScale="1">
        <p:scale>
          <a:sx n="119" d="100"/>
          <a:sy n="119" d="100"/>
        </p:scale>
        <p:origin x="232" y="4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4" Type="http://schemas.openxmlformats.org/officeDocument/2006/relationships/slide" Target="slides/slide26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75" tIns="45775" rIns="91575" bIns="457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49696" y="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75" tIns="45775" rIns="91575" bIns="457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3663" y="747713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1038" y="4714885"/>
            <a:ext cx="5435600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75" tIns="45775" rIns="91575" bIns="457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975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75" tIns="45775" rIns="91575" bIns="457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AF: user-requested discussion slide. Observation limited to the current planar homography pilot; not a claim that all references are class-specific semantic removal or simple image-pair differencing. UV masks are detector outputs on original aligned ortho imagery, then fused in common UV. Best vehicle PSNR/LPIPS among shown methods: UV + shadow guard. References include learned uncertainty/visibility and semantic feature/region evidence; input-versus-reconstruction residual is distinguished from direct image-to-image subtraction. Training captures are separated by years, not consecutive video frames. Heuristic concerns refer to current implementation choices. Sources: PROJECT.md, reference_study_v3/REPORT.md, protocol.json, results/summary.json. No new experiments.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제목 슬라이드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102" y="90549"/>
            <a:ext cx="3119060" cy="9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3215217" y="4643451"/>
            <a:ext cx="5689600" cy="404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360"/>
              </a:spcBef>
              <a:spcAft>
                <a:spcPts val="0"/>
              </a:spcAft>
              <a:buClr>
                <a:srgbClr val="53548A"/>
              </a:buClr>
              <a:buSzPts val="1800"/>
              <a:buFont typeface="Noto Sans Symbols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0" y="2857502"/>
            <a:ext cx="12192000" cy="792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>
  <p:cSld name="제목 및 내용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11280576" y="6518444"/>
            <a:ext cx="579152" cy="31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9" name="Google Shape;19;p3"/>
          <p:cNvCxnSpPr/>
          <p:nvPr/>
        </p:nvCxnSpPr>
        <p:spPr>
          <a:xfrm>
            <a:off x="527519" y="844649"/>
            <a:ext cx="11140138" cy="0"/>
          </a:xfrm>
          <a:prstGeom prst="straightConnector1">
            <a:avLst/>
          </a:prstGeom>
          <a:noFill/>
          <a:ln w="19050" cap="flat" cmpd="sng">
            <a:solidFill>
              <a:srgbClr val="254B9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609600" y="68786"/>
            <a:ext cx="10972800" cy="682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609600" y="934882"/>
            <a:ext cx="10972801" cy="5556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81000" algn="l" rtl="0">
              <a:spcBef>
                <a:spcPts val="48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■"/>
              <a:defRPr sz="24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1950" algn="l" rtl="0">
              <a:spcBef>
                <a:spcPts val="42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Arial"/>
              <a:buChar char="■"/>
              <a:defRPr sz="21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963084" y="4406906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rgbClr val="53548A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8723808" y="6534869"/>
            <a:ext cx="28449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527052" y="100017"/>
            <a:ext cx="11040533" cy="488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527053" y="1268413"/>
            <a:ext cx="5418667" cy="504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53548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–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6148923" y="1268413"/>
            <a:ext cx="5420783" cy="504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53548A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–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723808" y="6534869"/>
            <a:ext cx="28449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1"/>
          </p:nvPr>
        </p:nvSpPr>
        <p:spPr>
          <a:xfrm>
            <a:off x="609600" y="1535116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rgbClr val="53548A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rgbClr val="53548A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3"/>
          </p:nvPr>
        </p:nvSpPr>
        <p:spPr>
          <a:xfrm>
            <a:off x="6193373" y="1535116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rgbClr val="53548A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4"/>
          </p:nvPr>
        </p:nvSpPr>
        <p:spPr>
          <a:xfrm>
            <a:off x="6193373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rgbClr val="53548A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723808" y="6534869"/>
            <a:ext cx="28449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527052" y="100017"/>
            <a:ext cx="11040533" cy="488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723808" y="6534869"/>
            <a:ext cx="28449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sldNum" idx="12"/>
          </p:nvPr>
        </p:nvSpPr>
        <p:spPr>
          <a:xfrm>
            <a:off x="8723808" y="6534869"/>
            <a:ext cx="28449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609606" y="273052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1"/>
          </p:nvPr>
        </p:nvSpPr>
        <p:spPr>
          <a:xfrm>
            <a:off x="4766733" y="273056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rgbClr val="53548A"/>
              </a:buClr>
              <a:buSzPts val="3200"/>
              <a:buFont typeface="Arial"/>
              <a:buChar char="•"/>
              <a:defRPr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609606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rgbClr val="53548A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algun Gothic"/>
              <a:buNone/>
              <a:defRPr sz="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  <a:defRPr sz="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oto Sans Symbols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oto Sans Symbols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oto Sans Symbols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oto Sans Symbols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723808" y="6534869"/>
            <a:ext cx="28449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title"/>
          </p:nvPr>
        </p:nvSpPr>
        <p:spPr>
          <a:xfrm>
            <a:off x="2389717" y="4800603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50" name="Google Shape;50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10"/>
          <p:cNvSpPr txBox="1">
            <a:spLocks noGrp="1"/>
          </p:cNvSpPr>
          <p:nvPr>
            <p:ph type="body" idx="1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rgbClr val="53548A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algun Gothic"/>
              <a:buNone/>
              <a:defRPr sz="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  <a:defRPr sz="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oto Sans Symbols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oto Sans Symbols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oto Sans Symbols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oto Sans Symbols"/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sldNum" idx="12"/>
          </p:nvPr>
        </p:nvSpPr>
        <p:spPr>
          <a:xfrm>
            <a:off x="8723808" y="6534869"/>
            <a:ext cx="28449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>
            <a:spLocks noGrp="1"/>
          </p:cNvSpPr>
          <p:nvPr>
            <p:ph type="title"/>
          </p:nvPr>
        </p:nvSpPr>
        <p:spPr>
          <a:xfrm>
            <a:off x="527052" y="100017"/>
            <a:ext cx="11040533" cy="488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 rot="5400000">
            <a:off x="3276606" y="-1984373"/>
            <a:ext cx="5543551" cy="11042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rgbClr val="53548A"/>
              </a:buClr>
              <a:buSzPts val="3200"/>
              <a:buFont typeface="Arial"/>
              <a:buChar char="•"/>
              <a:defRPr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723808" y="6534869"/>
            <a:ext cx="28449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title"/>
          </p:nvPr>
        </p:nvSpPr>
        <p:spPr>
          <a:xfrm rot="5400000">
            <a:off x="7129729" y="1868754"/>
            <a:ext cx="6119812" cy="2760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body" idx="1"/>
          </p:nvPr>
        </p:nvSpPr>
        <p:spPr>
          <a:xfrm rot="5400000">
            <a:off x="1506807" y="-790838"/>
            <a:ext cx="6119812" cy="8079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rgbClr val="53548A"/>
              </a:buClr>
              <a:buSzPts val="3200"/>
              <a:buFont typeface="Arial"/>
              <a:buChar char="•"/>
              <a:defRPr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723808" y="6534869"/>
            <a:ext cx="28449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차트" type="chart">
  <p:cSld name="CHAR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527055" y="188917"/>
            <a:ext cx="8064500" cy="692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chart" idx="2"/>
          </p:nvPr>
        </p:nvSpPr>
        <p:spPr>
          <a:xfrm>
            <a:off x="527057" y="1268413"/>
            <a:ext cx="11042649" cy="504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rgbClr val="53548A"/>
              </a:buClr>
              <a:buSzPts val="3200"/>
              <a:buFont typeface="Arial"/>
              <a:buChar char="•"/>
              <a:defRPr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ldNum" idx="12"/>
          </p:nvPr>
        </p:nvSpPr>
        <p:spPr>
          <a:xfrm>
            <a:off x="8723808" y="6534869"/>
            <a:ext cx="28449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" type="objOnly">
  <p:cSld name="OBJECT_ONL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body" idx="1"/>
          </p:nvPr>
        </p:nvSpPr>
        <p:spPr>
          <a:xfrm>
            <a:off x="527057" y="188914"/>
            <a:ext cx="11042649" cy="611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rgbClr val="53548A"/>
              </a:buClr>
              <a:buSzPts val="3200"/>
              <a:buFont typeface="Arial"/>
              <a:buChar char="•"/>
              <a:defRPr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723808" y="6534869"/>
            <a:ext cx="28449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"/>
          <p:cNvSpPr/>
          <p:nvPr/>
        </p:nvSpPr>
        <p:spPr>
          <a:xfrm>
            <a:off x="1199456" y="6524632"/>
            <a:ext cx="10990500" cy="333300"/>
          </a:xfrm>
          <a:prstGeom prst="rect">
            <a:avLst/>
          </a:prstGeom>
          <a:solidFill>
            <a:srgbClr val="254B9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 b="1" i="0" u="none" strike="noStrike" cap="none">
              <a:solidFill>
                <a:schemeClr val="dk2"/>
              </a:solidFill>
              <a:highlight>
                <a:schemeClr val="dk2"/>
              </a:highlight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23808" y="6534869"/>
            <a:ext cx="28449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1199456" y="6534869"/>
            <a:ext cx="89763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3548A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Computer Vision Lab @ K</a:t>
            </a: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AIST</a:t>
            </a: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;p1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6164" y="6524625"/>
            <a:ext cx="1125466" cy="3333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>
    <p:fade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24128"/>
            <a:ext cx="107442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rPr sz="2300" b="1">
                <a:solidFill>
                  <a:srgbClr val="254B95"/>
                </a:solidFill>
                <a:latin typeface="Calibri"/>
                <a:ea typeface="Calibri"/>
                <a:cs typeface="Calibri"/>
              </a:rPr>
              <a:t>관찰 : 공통 UV에서 차량을 직접 검출해 제외하는 방식이 가장 효과적이었음.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7442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rPr sz="22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이번 평면 조건에서는 원본 정사영상의 차량 마스크로 배경만 모은 UV fusion이 강했고,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rPr sz="22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shadow guard를 더했을 때 차량 위치 PSNR·LPIPS가 가장 좋았음.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24328"/>
            <a:ext cx="107442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rPr sz="2300" b="1">
                <a:solidFill>
                  <a:srgbClr val="254B95"/>
                </a:solidFill>
                <a:latin typeface="Calibri"/>
                <a:ea typeface="Calibri"/>
                <a:cs typeface="Calibri"/>
              </a:rPr>
              <a:t>해석 : 시간적 움직임보다 관측의 불일치 또는 의미 정보를 이용하는 문제에 가까움.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7442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사진의 촬영 시점·간격이 불규칙해 연속 프레임처럼 시간적 연속성을 기대하기 어려움.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검토한 Ref도 시간 순서 자체보다 입력과 재구성 예측의 차이·다중 시점 일관성을 보거나,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rPr sz="21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semantic / 특징·영역 정보를 활용해 신뢰할 관측을 선택하는 방향을 사용함.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34840"/>
            <a:ext cx="107442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rPr sz="2300" b="1">
                <a:solidFill>
                  <a:srgbClr val="254B95"/>
                </a:solidFill>
                <a:latin typeface="Calibri"/>
                <a:ea typeface="Calibri"/>
                <a:cs typeface="Calibri"/>
              </a:rPr>
              <a:t>아쉬움 : 선택 규칙에 휴리스틱이 많이 남아 있음.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10912"/>
            <a:ext cx="10744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잔차 분위수·주변 필터·마스크 팽창·그림자 밝기 등 고정 설정에 의존함.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rPr sz="20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Ref의 학습형 모델도 있지만, 이번 단순 이식에서는 이득을 얻지 못함.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97880"/>
            <a:ext cx="107442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rPr sz="19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다음 질문 : 고정 규칙 의존을 줄이고, 배경 관측을 남기는 S를 학습할 수 있을까?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196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rPr sz="14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040TGp_time_mono 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3330</TotalTime>
  <Words>2209</Words>
  <Application>Microsoft Macintosh PowerPoint</Application>
  <PresentationFormat>와이드스크린</PresentationFormat>
  <Paragraphs>508</Paragraphs>
  <Slides>38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46" baseType="lpstr">
      <vt:lpstr>Gulim</vt:lpstr>
      <vt:lpstr>Malgun Gothic</vt:lpstr>
      <vt:lpstr>Noto Sans Symbols</vt:lpstr>
      <vt:lpstr>Arial</vt:lpstr>
      <vt:lpstr>Calibri</vt:lpstr>
      <vt:lpstr>Comic Sans MS</vt:lpstr>
      <vt:lpstr>Verdana</vt:lpstr>
      <vt:lpstr>040TGp_time_mono </vt:lpstr>
      <vt:lpstr>City Mesh meeting 9/1</vt:lpstr>
      <vt:lpstr>Topic</vt:lpstr>
      <vt:lpstr>SCube</vt:lpstr>
      <vt:lpstr>Task</vt:lpstr>
      <vt:lpstr>Relwork : Xcube</vt:lpstr>
      <vt:lpstr>Method</vt:lpstr>
      <vt:lpstr>Method</vt:lpstr>
      <vt:lpstr>Method : Refinement network</vt:lpstr>
      <vt:lpstr>Experiment</vt:lpstr>
      <vt:lpstr>Experiment</vt:lpstr>
      <vt:lpstr>Horizon GS</vt:lpstr>
      <vt:lpstr>Motivation</vt:lpstr>
      <vt:lpstr>Method</vt:lpstr>
      <vt:lpstr>Method  : Depth Supervision</vt:lpstr>
      <vt:lpstr>Experiment</vt:lpstr>
      <vt:lpstr>Experiment</vt:lpstr>
      <vt:lpstr>Experiment</vt:lpstr>
      <vt:lpstr>Discussion</vt:lpstr>
      <vt:lpstr>CityGaussianV2</vt:lpstr>
      <vt:lpstr>Task</vt:lpstr>
      <vt:lpstr>Problem statement</vt:lpstr>
      <vt:lpstr>Method (1) : Parallel training pipeline</vt:lpstr>
      <vt:lpstr>Method (2) : Elongation Filter</vt:lpstr>
      <vt:lpstr>Method (3) : Densification (DGD)</vt:lpstr>
      <vt:lpstr>Method (4) : Depth Supervision</vt:lpstr>
      <vt:lpstr>Experiment</vt:lpstr>
      <vt:lpstr>Experiment</vt:lpstr>
      <vt:lpstr>Experiment</vt:lpstr>
      <vt:lpstr>Discussion</vt:lpstr>
      <vt:lpstr>Baseline search</vt:lpstr>
      <vt:lpstr>Search criteria</vt:lpstr>
      <vt:lpstr>A. MV → Mesh : Per-scene</vt:lpstr>
      <vt:lpstr>A. MV → Mesh : Feed-forward</vt:lpstr>
      <vt:lpstr>B. MV → 3DGS : Per-scene</vt:lpstr>
      <vt:lpstr>B. MV → 3DGS : Feed-forward</vt:lpstr>
      <vt:lpstr>Ideation</vt:lpstr>
      <vt:lpstr>Ideation</vt:lpstr>
      <vt:lpstr>Ideation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정다현</dc:creator>
  <cp:lastModifiedBy>손주호</cp:lastModifiedBy>
  <cp:revision>89</cp:revision>
  <dcterms:modified xsi:type="dcterms:W3CDTF">2026-09-01T03:43:00Z</dcterms:modified>
</cp:coreProperties>
</file>