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1"/>
  </p:sldMasterIdLst>
  <p:notesMasterIdLst>
    <p:notesMasterId r:id="rId40"/>
  </p:notesMasterIdLst>
  <p:sldIdLst>
    <p:sldId id="261" r:id="rId12"/>
  </p:sldIdLst>
  <p:sldSz cx="12192000" cy="6858000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85BD"/>
    <a:srgbClr val="254B95"/>
    <a:srgbClr val="4896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3"/>
    <p:restoredTop sz="96376"/>
  </p:normalViewPr>
  <p:slideViewPr>
    <p:cSldViewPr snapToGrid="0">
      <p:cViewPr varScale="1">
        <p:scale>
          <a:sx n="119" d="100"/>
          <a:sy n="119" d="100"/>
        </p:scale>
        <p:origin x="232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7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96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7713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038" y="4714885"/>
            <a:ext cx="5435600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LaTeX source (hugs):</a:t>
            </a:r>
          </a:p>
          <a:p>
            <a:r>
              <a:t>\documentclass[border=3pt]{standalone}\usepackage{amsmath,amssymb}\begin{document}$\displaystyle \begin{gathered}C_i=\{\varepsilon_i\le\mu_i\},\quad Q_i=\{\varepsilon_i\le q_{95,i}\}\cup C_i,\\ H_i^0=(F_i\cup C_i)\cap Q_i,\quad H_i=H_i^0\cup\{B_7(\mathbf{1}_{H_i^0})\ge0.5\},\\ S_i=\operatorname{erode}_{5\times5}\!\left(\bigcup\nolimits_{\ell:\,|m_{i\ell}\cap H_i|/|m_{i\ell}|\ge0.5}m_{i\ell}\right)\end{gathered}$\end{document}</a:t>
            </a:r>
          </a:p>
          <a:p>
            <a:r>
              <a:t>Sources: 참조: NeRF-HuGS 공식 HuGS/generate_static_mask.py | 구현: pilot.py | 원 논문의 전체 NeRF 재현이 아님</a:t>
            </a:r>
          </a:p>
          <a:p>
            <a:r>
              <a:t>피겨는 저장된 실험 입력과 마스크에서 생성. 원 논문 전체 NeRF 재현이 아닌 파일럿. 템플릿: Citymesh9.1 Meeting.pptx의 원본 마스터와 레이아웃 및 Calibri 글꼴 설정 유지.</a:t>
            </a:r>
          </a:p>
          <a:p>
            <a:r>
              <a:t>수정본 v3: mesh 복원 대신 평면 homography 모사로 범위 명확화. 상세 요약/출처/실험: dynamic_object_baking_references_v3.md</a:t>
            </a:r>
          </a:p>
          <a:p/>
          <a:p>
            <a:r>
              <a:t>v4: 이해를 위해 두 근거 → 정적 후보 → SAM 영역 투표로 단순화. 32칸/75%/25%는 도식 예시이며 실험 데이터 아님. 단순 수식은 erosion 이전의 영역 채택 조건. 실제 구현: F=SIFT 지지점 SAM 확장, C={eps&lt;=mu}, Q={eps&lt;=q95} union C; H0=(F union C) intersect Q; H=H0 union {B7(H0)&gt;=0.5}; 영역별 H 비율&gt;=0.5를 채택한 뒤 5x5 erosion 및 valid 처리.</a:t>
            </a:r>
          </a:p>
          <a:p>
            <a:r>
              <a:t>\documentclass[border=3pt]{standalone}\usepackage{amsmath,amssymb}\begin{document}$\displaystyle S(m)=\mathbf{1}\!\left[\frac{N_{\mathrm{static}}(m)}{N_{\mathrm{all}}(m)}\ge0.5\right]$\end{document}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102" y="90549"/>
            <a:ext cx="3119060" cy="9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15217" y="4643451"/>
            <a:ext cx="5689600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60"/>
              </a:spcBef>
              <a:spcAft>
                <a:spcPts val="0"/>
              </a:spcAft>
              <a:buClr>
                <a:srgbClr val="53548A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0" y="2857502"/>
            <a:ext cx="121920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80576" y="6518444"/>
            <a:ext cx="579152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527519" y="844649"/>
            <a:ext cx="11140138" cy="0"/>
          </a:xfrm>
          <a:prstGeom prst="straightConnector1">
            <a:avLst/>
          </a:prstGeom>
          <a:noFill/>
          <a:ln w="19050" cap="flat" cmpd="sng">
            <a:solidFill>
              <a:srgbClr val="254B9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09600" y="68786"/>
            <a:ext cx="10972800" cy="682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09600" y="934882"/>
            <a:ext cx="10972801" cy="555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53548A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27053" y="1268413"/>
            <a:ext cx="5418667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3548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148923" y="1268413"/>
            <a:ext cx="5420783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3548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193373" y="1535116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09606" y="273052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4766733" y="273056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09606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 rot="5400000">
            <a:off x="3276606" y="-1984373"/>
            <a:ext cx="5543551" cy="1104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title"/>
          </p:nvPr>
        </p:nvSpPr>
        <p:spPr>
          <a:xfrm rot="5400000">
            <a:off x="7129729" y="1868754"/>
            <a:ext cx="6119812" cy="276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1"/>
          </p:nvPr>
        </p:nvSpPr>
        <p:spPr>
          <a:xfrm rot="5400000">
            <a:off x="1506807" y="-790838"/>
            <a:ext cx="6119812" cy="807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차트" type="chart">
  <p:cSld name="CH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527055" y="188917"/>
            <a:ext cx="8064500" cy="69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chart" idx="2"/>
          </p:nvPr>
        </p:nvSpPr>
        <p:spPr>
          <a:xfrm>
            <a:off x="527057" y="1268413"/>
            <a:ext cx="11042649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" type="objOnly">
  <p:cSld name="OBJECT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527057" y="188914"/>
            <a:ext cx="11042649" cy="611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/>
          <p:nvPr/>
        </p:nvSpPr>
        <p:spPr>
          <a:xfrm>
            <a:off x="1199456" y="6524632"/>
            <a:ext cx="10990500" cy="333300"/>
          </a:xfrm>
          <a:prstGeom prst="rect">
            <a:avLst/>
          </a:prstGeom>
          <a:solidFill>
            <a:srgbClr val="254B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i="0" u="none" strike="noStrike" cap="none">
              <a:solidFill>
                <a:schemeClr val="dk2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199456" y="6534869"/>
            <a:ext cx="8976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Computer Vision Lab @ K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AIST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6164" y="6524625"/>
            <a:ext cx="1125466" cy="3333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9.png"/><Relationship Id="rId5" Type="http://schemas.openxmlformats.org/officeDocument/2006/relationships/image" Target="../media/image40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: NeRF-HuGS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744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3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직관 : “정적으로 보이는 픽셀”을 먼저 찾고, SAM으로 나눈 영역마다 다수결함.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3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한 영역의 절반 이상이 정적 후보이면 그 영역을 Texture 학습에 사용함.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7510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① 정적 후보의 근거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42032"/>
            <a:ext cx="2816352" cy="804672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24328"/>
            <a:ext cx="255117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여러 영상에서 확인된 점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→ SAM으로 주변 영역 확장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75304"/>
            <a:ext cx="2816352" cy="804672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예측과 색이 잘 맞음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→ warm-up 오차가 작음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84448" y="2944368"/>
            <a:ext cx="530352" cy="393192"/>
          </a:xfrm>
          <a:prstGeom prst="line">
            <a:avLst/>
          </a:prstGeom>
          <a:ln w="22860">
            <a:solidFill>
              <a:srgbClr val="5967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584448" y="3337560"/>
            <a:ext cx="530352" cy="649224"/>
          </a:xfrm>
          <a:prstGeom prst="line">
            <a:avLst/>
          </a:prstGeom>
          <a:ln w="22860">
            <a:solidFill>
              <a:srgbClr val="5967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3337560"/>
            <a:ext cx="420624" cy="0"/>
          </a:xfrm>
          <a:prstGeom prst="line">
            <a:avLst/>
          </a:prstGeom>
          <a:ln w="22860">
            <a:solidFill>
              <a:srgbClr val="5967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90288" y="19751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② 정적 후보 지도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8716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두 근거를 합치고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큰 오차 제외·주변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6612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48072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99532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50992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02452" y="322783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22783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5372" y="322783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45152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6612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48072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99532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347929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02452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347929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5372" y="347929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45152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6612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48072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9532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50992" y="373075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02452" y="373075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5372" y="373075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45152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96612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48072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99532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50992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02452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53912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5372" y="398221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13148" y="3195827"/>
            <a:ext cx="1001268" cy="1001268"/>
          </a:xfrm>
          <a:prstGeom prst="rect">
            <a:avLst/>
          </a:prstGeom>
          <a:noFill/>
          <a:ln w="25400">
            <a:solidFill>
              <a:srgbClr val="254B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18988" y="3195827"/>
            <a:ext cx="1001268" cy="1001268"/>
          </a:xfrm>
          <a:prstGeom prst="rect">
            <a:avLst/>
          </a:prstGeom>
          <a:noFill/>
          <a:ln w="25400">
            <a:solidFill>
              <a:srgbClr val="6872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4425696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영역 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12 /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4425696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영역 B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4 / 16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922008" y="3685032"/>
            <a:ext cx="1362456" cy="0"/>
          </a:xfrm>
          <a:prstGeom prst="line">
            <a:avLst/>
          </a:prstGeom>
          <a:ln w="22860">
            <a:solidFill>
              <a:srgbClr val="5967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967728" y="3008376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영역마다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절반 이상?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2" y="197510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③ 영역별 채택 / 제외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9912" y="2487168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A는 채택 / B는 제외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픽셀별 판정을 영역으로 정리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76488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27948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79408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30867" y="322783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82328" y="322783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33788" y="322783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85248" y="322783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236708" y="322783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76488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727948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79408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30867" y="347929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82328" y="347929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33788" y="347929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85248" y="347929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36708" y="347929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6488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27948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79408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30867" y="3730752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82328" y="373075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33788" y="373075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985248" y="373075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236708" y="3730752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6488" y="398221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27948" y="398221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79408" y="398221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30867" y="3982211"/>
            <a:ext cx="228600" cy="2286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482328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33788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85248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36708" y="3982211"/>
            <a:ext cx="228600" cy="228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444484" y="3195827"/>
            <a:ext cx="1001268" cy="1001268"/>
          </a:xfrm>
          <a:prstGeom prst="rect">
            <a:avLst/>
          </a:prstGeom>
          <a:noFill/>
          <a:ln w="25400">
            <a:solidFill>
              <a:srgbClr val="254B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450324" y="3195827"/>
            <a:ext cx="1001268" cy="1001268"/>
          </a:xfrm>
          <a:prstGeom prst="rect">
            <a:avLst/>
          </a:prstGeom>
          <a:noFill/>
          <a:ln w="25400">
            <a:solidFill>
              <a:srgbClr val="6872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49056" y="4425696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S = 1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75% 채택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425696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 = 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25% 제외</a:t>
            </a:r>
          </a:p>
        </p:txBody>
      </p:sp>
      <p:pic>
        <p:nvPicPr>
          <p:cNvPr id="90" name="LaTeX: simplified HuGS region vote" descr="\documentclass[border=3pt]{standalone}\usepackage{amsmath,amssymb}\begin{document}$\displaystyle S(m)=\mathbf{1}\!\left[\frac{N_{\mathrm{static}}(m)}{N_{\mathrm{all}}(m)}\ge0.5\right]$\end{documen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5472" y="5102352"/>
            <a:ext cx="2120750" cy="484632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31520" y="5623560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Nstatic : 영역 안 정적 후보 수 / Nall : 영역 전체 픽셀 수. 파랑은 후보(가운데) 또는 채택(오른쪽)을 뜻함.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" y="5925312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도식의 75% / 25%는 이해용 예시. 실제 구현은 마지막에 경계를 조금 축소(erosion)하며, 반복 차량도 정적으로 오인할 수 있음.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7512" y="624535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참조: NeRF-HuGS 공식 generate_static_mask.py · pilot.py:hugs() | 파일럿은 3D SfM 대신 2D SIFT 매칭 사용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40TGp_time_mono 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2209</Words>
  <Application>Microsoft Macintosh PowerPoint</Application>
  <PresentationFormat>와이드스크린</PresentationFormat>
  <Paragraphs>508</Paragraphs>
  <Slides>38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6" baseType="lpstr">
      <vt:lpstr>Gulim</vt:lpstr>
      <vt:lpstr>Malgun Gothic</vt:lpstr>
      <vt:lpstr>Noto Sans Symbols</vt:lpstr>
      <vt:lpstr>Arial</vt:lpstr>
      <vt:lpstr>Calibri</vt:lpstr>
      <vt:lpstr>Comic Sans MS</vt:lpstr>
      <vt:lpstr>Verdana</vt:lpstr>
      <vt:lpstr>040TGp_time_mono </vt:lpstr>
      <vt:lpstr>City Mesh meeting 9/1</vt:lpstr>
      <vt:lpstr>Topic</vt:lpstr>
      <vt:lpstr>SCube</vt:lpstr>
      <vt:lpstr>Task</vt:lpstr>
      <vt:lpstr>Relwork : Xcube</vt:lpstr>
      <vt:lpstr>Method</vt:lpstr>
      <vt:lpstr>Method</vt:lpstr>
      <vt:lpstr>Method : Refinement network</vt:lpstr>
      <vt:lpstr>Experiment</vt:lpstr>
      <vt:lpstr>Experiment</vt:lpstr>
      <vt:lpstr>Horizon GS</vt:lpstr>
      <vt:lpstr>Motivation</vt:lpstr>
      <vt:lpstr>Method</vt:lpstr>
      <vt:lpstr>Method  : Depth Supervision</vt:lpstr>
      <vt:lpstr>Experiment</vt:lpstr>
      <vt:lpstr>Experiment</vt:lpstr>
      <vt:lpstr>Experiment</vt:lpstr>
      <vt:lpstr>Discussion</vt:lpstr>
      <vt:lpstr>CityGaussianV2</vt:lpstr>
      <vt:lpstr>Task</vt:lpstr>
      <vt:lpstr>Problem statement</vt:lpstr>
      <vt:lpstr>Method (1) : Parallel training pipeline</vt:lpstr>
      <vt:lpstr>Method (2) : Elongation Filter</vt:lpstr>
      <vt:lpstr>Method (3) : Densification (DGD)</vt:lpstr>
      <vt:lpstr>Method (4) : Depth Supervision</vt:lpstr>
      <vt:lpstr>Experiment</vt:lpstr>
      <vt:lpstr>Experiment</vt:lpstr>
      <vt:lpstr>Experiment</vt:lpstr>
      <vt:lpstr>Discussion</vt:lpstr>
      <vt:lpstr>Baseline search</vt:lpstr>
      <vt:lpstr>Search criteria</vt:lpstr>
      <vt:lpstr>A. MV → Mesh : Per-scene</vt:lpstr>
      <vt:lpstr>A. MV → Mesh : Feed-forward</vt:lpstr>
      <vt:lpstr>B. MV → 3DGS : Per-scene</vt:lpstr>
      <vt:lpstr>B. MV → 3DGS : Feed-forward</vt:lpstr>
      <vt:lpstr>Ideation</vt:lpstr>
      <vt:lpstr>Ideation</vt:lpstr>
      <vt:lpstr>Ideation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정다현</dc:creator>
  <cp:lastModifiedBy>손주호</cp:lastModifiedBy>
  <cp:revision>89</cp:revision>
  <dcterms:modified xsi:type="dcterms:W3CDTF">2026-09-01T03:43:00Z</dcterms:modified>
</cp:coreProperties>
</file>