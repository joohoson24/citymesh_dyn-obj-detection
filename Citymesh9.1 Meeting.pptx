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</p:sldMasterIdLst>
  <p:notesMasterIdLst>
    <p:notesMasterId r:id="rId40"/>
  </p:notesMasterIdLst>
  <p:sldIdLst>
    <p:sldId id="256" r:id="rId2"/>
    <p:sldId id="257" r:id="rId3"/>
    <p:sldId id="333" r:id="rId4"/>
    <p:sldId id="334" r:id="rId5"/>
    <p:sldId id="377" r:id="rId6"/>
    <p:sldId id="378" r:id="rId7"/>
    <p:sldId id="380" r:id="rId8"/>
    <p:sldId id="381" r:id="rId9"/>
    <p:sldId id="379" r:id="rId10"/>
    <p:sldId id="386" r:id="rId11"/>
    <p:sldId id="382" r:id="rId12"/>
    <p:sldId id="383" r:id="rId13"/>
    <p:sldId id="335" r:id="rId14"/>
    <p:sldId id="384" r:id="rId15"/>
    <p:sldId id="387" r:id="rId16"/>
    <p:sldId id="385" r:id="rId17"/>
    <p:sldId id="388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408" r:id="rId28"/>
    <p:sldId id="410" r:id="rId29"/>
    <p:sldId id="399" r:id="rId30"/>
    <p:sldId id="400" r:id="rId31"/>
    <p:sldId id="401" r:id="rId32"/>
    <p:sldId id="402" r:id="rId33"/>
    <p:sldId id="403" r:id="rId34"/>
    <p:sldId id="404" r:id="rId35"/>
    <p:sldId id="405" r:id="rId36"/>
    <p:sldId id="406" r:id="rId37"/>
    <p:sldId id="407" r:id="rId38"/>
    <p:sldId id="409" r:id="rId39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85BD"/>
    <a:srgbClr val="254B95"/>
    <a:srgbClr val="489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3"/>
    <p:restoredTop sz="96376"/>
  </p:normalViewPr>
  <p:slideViewPr>
    <p:cSldViewPr snapToGrid="0">
      <p:cViewPr varScale="1">
        <p:scale>
          <a:sx n="119" d="100"/>
          <a:sy n="119" d="100"/>
        </p:scale>
        <p:origin x="232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96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600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44bed137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g2f44bed1378_0_7:notes"/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44bed13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44bed1378_0_0:notes"/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700" cy="4467300"/>
          </a:xfrm>
          <a:prstGeom prst="rect">
            <a:avLst/>
          </a:prstGeom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2135F56-6E31-F453-25CD-658C6650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44bed1378_0_7:notes">
            <a:extLst>
              <a:ext uri="{FF2B5EF4-FFF2-40B4-BE49-F238E27FC236}">
                <a16:creationId xmlns:a16="http://schemas.microsoft.com/office/drawing/2014/main" id="{F29179DC-E833-D10C-5578-DD4EE86A8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g2f44bed1378_0_7:notes">
            <a:extLst>
              <a:ext uri="{FF2B5EF4-FFF2-40B4-BE49-F238E27FC236}">
                <a16:creationId xmlns:a16="http://schemas.microsoft.com/office/drawing/2014/main" id="{798466CA-B596-E6EF-355D-C863C9FEC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236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63AB79D-2097-F417-86D6-3DAA2D11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44bed1378_0_7:notes">
            <a:extLst>
              <a:ext uri="{FF2B5EF4-FFF2-40B4-BE49-F238E27FC236}">
                <a16:creationId xmlns:a16="http://schemas.microsoft.com/office/drawing/2014/main" id="{847E8DC6-1130-7B84-630F-B3F4DF482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g2f44bed1378_0_7:notes">
            <a:extLst>
              <a:ext uri="{FF2B5EF4-FFF2-40B4-BE49-F238E27FC236}">
                <a16:creationId xmlns:a16="http://schemas.microsoft.com/office/drawing/2014/main" id="{32021E1E-601C-2DE7-4845-158FDD3F4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552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works adopt multi-view images as 3D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189609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60EE-223C-4048-A659-1454AFF8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29C9A-2BED-D1E8-BA85-D4D2A1146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81F3E-2D06-11BD-81AD-AF1CD2516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works adopt multi-view images as 3D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216613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F669B-1DDA-D0B3-4BE2-D73E0988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576DD-E618-6AB8-27EE-400170E84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E22A9-9DCC-AABB-F976-28BB44F02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works adopt multi-view images as 3D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3948161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F1DC-F976-E03B-709A-69CDE257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4D0B6-6CAF-AE61-7782-8E57ED44B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4F470-F5D1-2949-96E6-BBAC8205C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works adopt multi-view images as 3D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475381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4BA8-352D-4094-8184-63515244E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5D900-8F8C-F3DC-15B9-DC7DC4645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B8288-6F3B-4238-25E6-DED9D1B8E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works adopt multi-view images as 3D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69587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102" y="90549"/>
            <a:ext cx="3119060" cy="9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15217" y="4643451"/>
            <a:ext cx="5689600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60"/>
              </a:spcBef>
              <a:spcAft>
                <a:spcPts val="0"/>
              </a:spcAft>
              <a:buClr>
                <a:srgbClr val="53548A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0" y="2857502"/>
            <a:ext cx="121920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80576" y="6518444"/>
            <a:ext cx="579152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527519" y="844649"/>
            <a:ext cx="11140138" cy="0"/>
          </a:xfrm>
          <a:prstGeom prst="straightConnector1">
            <a:avLst/>
          </a:prstGeom>
          <a:noFill/>
          <a:ln w="19050" cap="flat" cmpd="sng">
            <a:solidFill>
              <a:srgbClr val="254B9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09600" y="68786"/>
            <a:ext cx="10972800" cy="68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09600" y="934882"/>
            <a:ext cx="10972801" cy="555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53548A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27053" y="1268413"/>
            <a:ext cx="5418667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148923" y="1268413"/>
            <a:ext cx="5420783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193373" y="1535116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09606" y="273052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766733" y="273056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09606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 rot="5400000">
            <a:off x="3276606" y="-1984373"/>
            <a:ext cx="5543551" cy="1104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title"/>
          </p:nvPr>
        </p:nvSpPr>
        <p:spPr>
          <a:xfrm rot="5400000">
            <a:off x="7129729" y="1868754"/>
            <a:ext cx="6119812" cy="276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1"/>
          </p:nvPr>
        </p:nvSpPr>
        <p:spPr>
          <a:xfrm rot="5400000">
            <a:off x="1506807" y="-790838"/>
            <a:ext cx="6119812" cy="807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차트" type="chart">
  <p:cSld name="CH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27055" y="188917"/>
            <a:ext cx="8064500" cy="69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chart" idx="2"/>
          </p:nvPr>
        </p:nvSpPr>
        <p:spPr>
          <a:xfrm>
            <a:off x="527057" y="1268413"/>
            <a:ext cx="11042649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" type="objOnly">
  <p:cSld name="OBJECT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527057" y="188914"/>
            <a:ext cx="11042649" cy="611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/>
          <p:nvPr/>
        </p:nvSpPr>
        <p:spPr>
          <a:xfrm>
            <a:off x="1199456" y="6524632"/>
            <a:ext cx="10990500" cy="333300"/>
          </a:xfrm>
          <a:prstGeom prst="rect">
            <a:avLst/>
          </a:prstGeom>
          <a:solidFill>
            <a:srgbClr val="254B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i="0" u="none" strike="noStrike" cap="none">
              <a:solidFill>
                <a:schemeClr val="dk2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199456" y="6534869"/>
            <a:ext cx="8976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Computer Vision Lab @ K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AIST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164" y="6524625"/>
            <a:ext cx="1125466" cy="3333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215217" y="4643451"/>
            <a:ext cx="56895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altLang="ko-KR" sz="2000" dirty="0" err="1"/>
              <a:t>Jooho</a:t>
            </a:r>
            <a:r>
              <a:rPr lang="en-US" altLang="ko-KR" sz="2000" dirty="0"/>
              <a:t> Son</a:t>
            </a:r>
            <a:endParaRPr lang="en-US" sz="2000" dirty="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r>
              <a:rPr lang="en-US" altLang="ko-KR" dirty="0"/>
              <a:t>durei1@kaist.ac.kr</a:t>
            </a:r>
            <a:endParaRPr lang="en-US" dirty="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Computer Vision Laboratory (CVLAB)</a:t>
            </a: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Graduate School of Artificial Intelligence, KAIST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ctrTitle"/>
          </p:nvPr>
        </p:nvSpPr>
        <p:spPr>
          <a:xfrm>
            <a:off x="0" y="2556227"/>
            <a:ext cx="121920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City Mesh meeting 9/1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11280576" y="6518444"/>
            <a:ext cx="579300" cy="312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609600" y="68786"/>
            <a:ext cx="10972800" cy="68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Topic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609600" y="934882"/>
            <a:ext cx="10972800" cy="5556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AutoNum type="arabicPeriod"/>
            </a:pPr>
            <a:r>
              <a:rPr lang="en-US" b="0" dirty="0" err="1"/>
              <a:t>Sc</a:t>
            </a:r>
            <a:r>
              <a:rPr lang="en-US" altLang="ko-KR" b="0" dirty="0" err="1"/>
              <a:t>ube</a:t>
            </a:r>
            <a:endParaRPr lang="en-US" altLang="ko-KR" b="0" dirty="0"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AutoNum type="arabicPeriod"/>
            </a:pPr>
            <a:r>
              <a:rPr lang="en-US" altLang="ko-KR" b="0" dirty="0" err="1"/>
              <a:t>HorizonGS</a:t>
            </a:r>
            <a:endParaRPr lang="en-US" altLang="ko-KR" b="0" dirty="0"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AutoNum type="arabicPeriod"/>
            </a:pPr>
            <a:r>
              <a:rPr lang="en-US" altLang="ko-KR" b="0" dirty="0"/>
              <a:t>Citygaussianv2</a:t>
            </a:r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AutoNum type="arabicPeriod"/>
            </a:pPr>
            <a:r>
              <a:rPr lang="en-US" altLang="ko-KR" b="0" dirty="0"/>
              <a:t>Baseline</a:t>
            </a:r>
            <a:r>
              <a:rPr lang="ko-KR" altLang="en-US" b="0" dirty="0"/>
              <a:t> 추가 조사</a:t>
            </a:r>
            <a:endParaRPr lang="en-US" altLang="ko-KR" b="0" dirty="0"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AutoNum type="arabicPeriod"/>
            </a:pPr>
            <a:r>
              <a:rPr lang="en-US" altLang="ko-KR" b="0" dirty="0"/>
              <a:t>Ideation</a:t>
            </a:r>
            <a:endParaRPr lang="en-US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65915CE-07F4-56F3-B2E0-8AE56669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846ADA0F-59BA-8350-9E7D-216F849BCC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6054"/>
            <a:ext cx="121920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altLang="ko-KR" sz="4800" dirty="0" err="1"/>
              <a:t>SCube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40934507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600" b="0" dirty="0"/>
              <a:t>City scale scene</a:t>
            </a:r>
            <a:r>
              <a:rPr lang="ko-KR" altLang="en-US" sz="2600" b="0" dirty="0"/>
              <a:t>을 </a:t>
            </a:r>
            <a:r>
              <a:rPr lang="en-US" altLang="ko-KR" sz="2600" b="0" dirty="0"/>
              <a:t>‘non overlap views’</a:t>
            </a:r>
            <a:r>
              <a:rPr lang="ko-KR" altLang="en-US" sz="2600" b="0" dirty="0"/>
              <a:t>만으로 </a:t>
            </a:r>
            <a:r>
              <a:rPr lang="en-US" altLang="ko-KR" sz="2600" b="0" dirty="0"/>
              <a:t>feedforward </a:t>
            </a:r>
            <a:r>
              <a:rPr lang="ko-KR" altLang="en-US" sz="2600" b="0" dirty="0"/>
              <a:t>재구성</a:t>
            </a:r>
            <a:endParaRPr lang="en-US" altLang="ko-KR" sz="26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200" b="0" dirty="0"/>
              <a:t>Input</a:t>
            </a:r>
            <a:r>
              <a:rPr lang="ko-KR" altLang="en-US" sz="2200" b="0" dirty="0" err="1"/>
              <a:t>으로</a:t>
            </a:r>
            <a:r>
              <a:rPr lang="ko-KR" altLang="en-US" sz="2200" b="0" dirty="0"/>
              <a:t> </a:t>
            </a:r>
            <a:r>
              <a:rPr lang="en-US" altLang="ko-KR" sz="2200" b="0" dirty="0"/>
              <a:t>Multiview-image, camera param</a:t>
            </a:r>
            <a:r>
              <a:rPr lang="ko-KR" altLang="en-US" sz="2200" b="0" dirty="0"/>
              <a:t>만 사용</a:t>
            </a:r>
            <a:endParaRPr lang="en-US" altLang="ko-KR" sz="22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200" b="0" dirty="0"/>
              <a:t>Code availability : O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R" sz="22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sz="26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88CC74-F8D8-0A14-1694-43504C74FE48}"/>
              </a:ext>
            </a:extLst>
          </p:cNvPr>
          <p:cNvSpPr/>
          <p:nvPr/>
        </p:nvSpPr>
        <p:spPr>
          <a:xfrm>
            <a:off x="11280576" y="4783015"/>
            <a:ext cx="579152" cy="773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AD2463-957F-7CC8-1A24-A16C6B560C17}"/>
              </a:ext>
            </a:extLst>
          </p:cNvPr>
          <p:cNvSpPr/>
          <p:nvPr/>
        </p:nvSpPr>
        <p:spPr>
          <a:xfrm>
            <a:off x="11167110" y="4783015"/>
            <a:ext cx="880110" cy="62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B2CF-A91B-5B9A-526E-32E22617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B0D06F-A08F-0AA8-6E43-0D9ABEA7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75E8FB-331A-1434-5A28-36B77762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Relwork</a:t>
            </a:r>
            <a:r>
              <a:rPr lang="en-US" dirty="0"/>
              <a:t> : </a:t>
            </a:r>
            <a:r>
              <a:rPr lang="en-US" dirty="0" err="1"/>
              <a:t>Xcube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F2328-0AD7-1B39-21C3-3654A6239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400" b="0" dirty="0" err="1"/>
              <a:t>Scube</a:t>
            </a:r>
            <a:r>
              <a:rPr lang="ko-KR" altLang="en-US" sz="2400" b="0" dirty="0"/>
              <a:t>의 </a:t>
            </a:r>
            <a:r>
              <a:rPr lang="en-US" altLang="ko-KR" sz="2400" b="0" dirty="0"/>
              <a:t>backbone</a:t>
            </a:r>
            <a:r>
              <a:rPr lang="ko-KR" altLang="en-US" sz="2400" b="0" dirty="0"/>
              <a:t>이 됨</a:t>
            </a:r>
            <a:endParaRPr lang="en-US" altLang="ko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400" b="0" dirty="0"/>
              <a:t>Corse – to - fine latent diffusion</a:t>
            </a:r>
            <a:r>
              <a:rPr lang="ko-KR" altLang="en-US" sz="2400" b="0" dirty="0"/>
              <a:t> 구조를 사용</a:t>
            </a:r>
            <a:endParaRPr lang="en-US" altLang="ko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400" b="0" dirty="0"/>
              <a:t>Text conditioning</a:t>
            </a:r>
            <a:r>
              <a:rPr lang="ko-KR" altLang="en-US" sz="2400" b="0" dirty="0"/>
              <a:t>만 지원함</a:t>
            </a:r>
            <a:endParaRPr lang="en-US" altLang="ko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0" dirty="0"/>
              <a:t>최종 결과 </a:t>
            </a:r>
            <a:r>
              <a:rPr lang="en-US" altLang="ko-KR" sz="2400" b="0" dirty="0"/>
              <a:t>(G,A)</a:t>
            </a:r>
            <a:r>
              <a:rPr lang="ko-KR" altLang="en-US" sz="2400" b="0" dirty="0"/>
              <a:t>는 </a:t>
            </a:r>
            <a:r>
              <a:rPr lang="en-US" altLang="ko-KR" sz="2400" b="0" dirty="0"/>
              <a:t>Gaussian head</a:t>
            </a:r>
            <a:r>
              <a:rPr lang="ko-KR" altLang="en-US" sz="2400" b="0" dirty="0" err="1"/>
              <a:t>를</a:t>
            </a:r>
            <a:r>
              <a:rPr lang="ko-KR" altLang="en-US" sz="2400" b="0" dirty="0"/>
              <a:t> 통해 </a:t>
            </a:r>
            <a:r>
              <a:rPr lang="en-US" altLang="ko-KR" sz="2400" b="0" dirty="0"/>
              <a:t>GS</a:t>
            </a:r>
            <a:r>
              <a:rPr lang="ko-KR" altLang="en-US" sz="2400" b="0" dirty="0"/>
              <a:t> 형태가 됨</a:t>
            </a:r>
            <a:endParaRPr lang="en-US" altLang="ko-KR" sz="2400" b="0" dirty="0"/>
          </a:p>
          <a:p>
            <a:pPr marL="228600" indent="0"/>
            <a:endParaRPr lang="en-US" altLang="ko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ore-KR" sz="2400" b="0" dirty="0"/>
          </a:p>
          <a:p>
            <a:pPr marL="228600" indent="0"/>
            <a:endParaRPr lang="en-US" sz="24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A59AB6-8D04-BC3F-645C-53674E08F954}"/>
              </a:ext>
            </a:extLst>
          </p:cNvPr>
          <p:cNvSpPr/>
          <p:nvPr/>
        </p:nvSpPr>
        <p:spPr>
          <a:xfrm>
            <a:off x="11280576" y="4783015"/>
            <a:ext cx="579152" cy="773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2727BF-A22A-F1A9-D72D-4824F537005F}"/>
              </a:ext>
            </a:extLst>
          </p:cNvPr>
          <p:cNvSpPr/>
          <p:nvPr/>
        </p:nvSpPr>
        <p:spPr>
          <a:xfrm>
            <a:off x="11167110" y="4783015"/>
            <a:ext cx="880110" cy="62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22FF-DC3A-F6B2-6789-0657A9DC4A1C}"/>
              </a:ext>
            </a:extLst>
          </p:cNvPr>
          <p:cNvSpPr txBox="1"/>
          <p:nvPr/>
        </p:nvSpPr>
        <p:spPr>
          <a:xfrm>
            <a:off x="4852737" y="45714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/>
              <a:t>https://arxiv.org/abs/2312.03806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690786-2922-FBFA-F9E1-EE77422F6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06" y="2922063"/>
            <a:ext cx="9520098" cy="285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111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18DF-6B53-D12C-3DCC-703554D5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28455D-54D1-0B13-9F36-BBA35D0794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9B0ED5-A887-B7A0-E82B-5D4C6DB1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9F98D-EDAC-A424-8F1E-DBE4D9E18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ore-KR" sz="2400" b="0" dirty="0" err="1"/>
              <a:t>Xcube</a:t>
            </a:r>
            <a:r>
              <a:rPr lang="ko-Kore-KR" altLang="en-US" sz="2400" b="0" dirty="0"/>
              <a:t>에 </a:t>
            </a:r>
            <a:r>
              <a:rPr lang="en-US" altLang="ko-Kore-KR" sz="2400" b="0" dirty="0"/>
              <a:t>image conditioning</a:t>
            </a:r>
            <a:r>
              <a:rPr lang="ko-Kore-KR" altLang="en-US" sz="2400" b="0" dirty="0"/>
              <a:t>이 가능하도록 해야 함</a:t>
            </a:r>
            <a:endParaRPr lang="en-US" altLang="ko-Kore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ore-KR" altLang="en-US" sz="2400" b="0" dirty="0"/>
              <a:t>이를 위해</a:t>
            </a:r>
            <a:r>
              <a:rPr lang="en-US" altLang="ko-Kore-KR" sz="2400" b="0" dirty="0"/>
              <a:t> condition </a:t>
            </a:r>
            <a:r>
              <a:rPr lang="ko-Kore-KR" altLang="en-US" sz="2400" b="0" dirty="0"/>
              <a:t>생성을 생성 후 주입해야 함</a:t>
            </a:r>
            <a:endParaRPr lang="en-US" altLang="ko-Kore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ore-KR" altLang="en-US" sz="2400" b="0" dirty="0"/>
              <a:t>아래방식으로 </a:t>
            </a:r>
            <a:r>
              <a:rPr lang="en-US" altLang="ko-Kore-KR" sz="2400" b="0" dirty="0"/>
              <a:t>condition </a:t>
            </a:r>
            <a:r>
              <a:rPr lang="ko-Kore-KR" altLang="en-US" sz="2400" b="0" dirty="0"/>
              <a:t>생성 후</a:t>
            </a:r>
            <a:r>
              <a:rPr lang="en-US" altLang="ko-Kore-KR" sz="2400" b="0" dirty="0"/>
              <a:t>, latent</a:t>
            </a:r>
            <a:r>
              <a:rPr lang="ko-Kore-KR" altLang="en-US" sz="2400" b="0" dirty="0"/>
              <a:t>와의 </a:t>
            </a:r>
            <a:r>
              <a:rPr lang="en-US" altLang="ko-Kore-KR" sz="2400" b="0" dirty="0"/>
              <a:t>channel </a:t>
            </a:r>
            <a:r>
              <a:rPr lang="en-US" altLang="ko-Kore-KR" sz="2400" b="0" dirty="0" err="1"/>
              <a:t>concat</a:t>
            </a:r>
            <a:r>
              <a:rPr lang="ko-Kore-KR" altLang="en-US" sz="2400" b="0" dirty="0"/>
              <a:t>을 사용</a:t>
            </a:r>
            <a:endParaRPr lang="en-US" altLang="ko-Kore-KR" sz="2400" b="0" dirty="0"/>
          </a:p>
          <a:p>
            <a:pPr marL="228600" indent="0"/>
            <a:endParaRPr lang="en-US" sz="24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20B74D-6308-7101-2A93-D584B8B78C83}"/>
              </a:ext>
            </a:extLst>
          </p:cNvPr>
          <p:cNvSpPr/>
          <p:nvPr/>
        </p:nvSpPr>
        <p:spPr>
          <a:xfrm>
            <a:off x="11280576" y="4783015"/>
            <a:ext cx="579152" cy="773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0545CC-E145-CB59-06E4-141CCE33B076}"/>
              </a:ext>
            </a:extLst>
          </p:cNvPr>
          <p:cNvSpPr/>
          <p:nvPr/>
        </p:nvSpPr>
        <p:spPr>
          <a:xfrm>
            <a:off x="11167110" y="4783015"/>
            <a:ext cx="880110" cy="62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7C8406-EB11-A5CB-4BE5-D648D328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57" y="3049234"/>
            <a:ext cx="6111184" cy="31830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95AB9B-D581-57DF-51C9-48E9A8E17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733" y="3625820"/>
            <a:ext cx="5265487" cy="2314389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37F7AD5-D815-F633-244C-942882DCA6D2}"/>
              </a:ext>
            </a:extLst>
          </p:cNvPr>
          <p:cNvSpPr txBox="1">
            <a:spLocks/>
          </p:cNvSpPr>
          <p:nvPr/>
        </p:nvSpPr>
        <p:spPr>
          <a:xfrm>
            <a:off x="7779991" y="5644656"/>
            <a:ext cx="6312569" cy="140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0"/>
            <a:endParaRPr lang="en-US" sz="2600" b="0" dirty="0"/>
          </a:p>
        </p:txBody>
      </p:sp>
    </p:spTree>
    <p:extLst>
      <p:ext uri="{BB962C8B-B14F-4D97-AF65-F5344CB8AC3E}">
        <p14:creationId xmlns:p14="http://schemas.microsoft.com/office/powerpoint/2010/main" val="290522265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CD78-59D1-5C79-1D39-19C791FF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AFE74A-D848-0C2B-CC76-5515326C85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0F8B2E-F385-C275-323D-D7C66659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10089-6C73-B8A4-2C76-D9BBB35D2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/>
              <a:t>Conditioning </a:t>
            </a:r>
            <a:r>
              <a:rPr lang="ko-Kore-KR" altLang="en-US" sz="2400" b="0" dirty="0"/>
              <a:t>방식은 </a:t>
            </a:r>
            <a:r>
              <a:rPr lang="en-US" altLang="ko-Kore-KR" sz="2400" b="0" dirty="0" err="1"/>
              <a:t>IBRnet</a:t>
            </a:r>
            <a:r>
              <a:rPr lang="ko-Kore-KR" altLang="en-US" sz="2400" b="0" dirty="0"/>
              <a:t>보다 성능이 좋음을 명시하고 있음</a:t>
            </a:r>
            <a:r>
              <a:rPr lang="en-US" altLang="ko-Kore-KR" sz="2400" b="0" dirty="0"/>
              <a:t>.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2000" b="0" dirty="0" err="1"/>
              <a:t>IBRnet은</a:t>
            </a:r>
            <a:r>
              <a:rPr lang="en-US" sz="2000" b="0" dirty="0"/>
              <a:t> </a:t>
            </a:r>
            <a:r>
              <a:rPr lang="en-US" sz="2000" dirty="0" err="1"/>
              <a:t>feature을</a:t>
            </a:r>
            <a:r>
              <a:rPr lang="en-US" sz="2000" dirty="0"/>
              <a:t> ray trajectory </a:t>
            </a:r>
            <a:r>
              <a:rPr lang="en-US" sz="2000" dirty="0" err="1"/>
              <a:t>전체에</a:t>
            </a:r>
            <a:r>
              <a:rPr lang="en-US" sz="2000" dirty="0"/>
              <a:t> </a:t>
            </a:r>
            <a:r>
              <a:rPr lang="en-US" sz="2000" dirty="0" err="1"/>
              <a:t>캐스팅하는</a:t>
            </a:r>
            <a:r>
              <a:rPr lang="en-US" sz="2000" dirty="0"/>
              <a:t> </a:t>
            </a:r>
            <a:r>
              <a:rPr lang="en-US" sz="2000" dirty="0" err="1"/>
              <a:t>반면</a:t>
            </a:r>
            <a:r>
              <a:rPr lang="en-US" altLang="ko-KR" sz="2000" dirty="0"/>
              <a:t>, </a:t>
            </a:r>
            <a:r>
              <a:rPr lang="ko-KR" altLang="en-US" sz="2000" dirty="0"/>
              <a:t>위 방식은 </a:t>
            </a:r>
            <a:r>
              <a:rPr lang="en-US" altLang="ko-KR" sz="2000" dirty="0"/>
              <a:t>depth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고려하여 </a:t>
            </a:r>
            <a:r>
              <a:rPr lang="ko-KR" altLang="en-US" sz="2000" dirty="0" err="1"/>
              <a:t>의미있게</a:t>
            </a:r>
            <a:r>
              <a:rPr lang="ko-KR" altLang="en-US" sz="2000" dirty="0"/>
              <a:t> 캐스팅함</a:t>
            </a:r>
            <a:endParaRPr lang="en-US" altLang="ko-KR" sz="1600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dirty="0"/>
              <a:t> </a:t>
            </a:r>
            <a:r>
              <a:rPr lang="ko-KR" altLang="en-US" sz="2400" b="0" dirty="0"/>
              <a:t>따라서</a:t>
            </a:r>
            <a:r>
              <a:rPr lang="en-US" altLang="ko-KR" sz="2400" b="0" dirty="0"/>
              <a:t>, Ours</a:t>
            </a:r>
            <a:r>
              <a:rPr lang="ko-KR" altLang="en-US" sz="2400" b="0" dirty="0"/>
              <a:t>도 </a:t>
            </a:r>
            <a:r>
              <a:rPr lang="en-US" altLang="ko-KR" sz="2400" b="0" dirty="0"/>
              <a:t>stage 1 semantic </a:t>
            </a:r>
            <a:r>
              <a:rPr lang="en-US" altLang="ko-KR" sz="2400" b="0" dirty="0" err="1"/>
              <a:t>conditoning</a:t>
            </a:r>
            <a:r>
              <a:rPr lang="ko-KR" altLang="en-US" sz="2400" b="0" dirty="0"/>
              <a:t>시 이 방식을 사용 가능</a:t>
            </a:r>
            <a:endParaRPr lang="en-US" altLang="ko-KR" sz="2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3C0CDC-9754-F29B-2E40-267E6904DE49}"/>
              </a:ext>
            </a:extLst>
          </p:cNvPr>
          <p:cNvSpPr/>
          <p:nvPr/>
        </p:nvSpPr>
        <p:spPr>
          <a:xfrm>
            <a:off x="11280576" y="4783015"/>
            <a:ext cx="579152" cy="773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A4FF75-E3E6-907F-C03D-11699417AE3A}"/>
              </a:ext>
            </a:extLst>
          </p:cNvPr>
          <p:cNvSpPr/>
          <p:nvPr/>
        </p:nvSpPr>
        <p:spPr>
          <a:xfrm>
            <a:off x="11167110" y="4783015"/>
            <a:ext cx="880110" cy="62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15C1E7-25C4-C37C-1DEB-24842FCB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54" y="3164575"/>
            <a:ext cx="6111184" cy="3183040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001782E-2B03-756F-14FF-BC009C7369F8}"/>
              </a:ext>
            </a:extLst>
          </p:cNvPr>
          <p:cNvSpPr txBox="1">
            <a:spLocks/>
          </p:cNvSpPr>
          <p:nvPr/>
        </p:nvSpPr>
        <p:spPr>
          <a:xfrm>
            <a:off x="7779991" y="5644656"/>
            <a:ext cx="6312569" cy="140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0"/>
            <a:endParaRPr lang="en-US" sz="2600" b="0" dirty="0"/>
          </a:p>
        </p:txBody>
      </p:sp>
    </p:spTree>
    <p:extLst>
      <p:ext uri="{BB962C8B-B14F-4D97-AF65-F5344CB8AC3E}">
        <p14:creationId xmlns:p14="http://schemas.microsoft.com/office/powerpoint/2010/main" val="273004829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9A18-AA56-AED3-8AEE-E2A66C8F1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82A07-ABA0-1B8D-627B-2ED6C965F7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1C9854-CEB7-8607-4FA8-82116F33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: Refinement network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63FFF-1A15-CE09-2858-5B958FB8A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/>
              <a:t>Corse-to-fine diffusion </a:t>
            </a:r>
            <a:r>
              <a:rPr lang="en-US" sz="2400" b="0" dirty="0" err="1"/>
              <a:t>method는</a:t>
            </a:r>
            <a:r>
              <a:rPr lang="en-US" sz="2400" b="0" dirty="0"/>
              <a:t> Error </a:t>
            </a:r>
            <a:r>
              <a:rPr lang="en-US" sz="2400" b="0" dirty="0" err="1"/>
              <a:t>accumulation에</a:t>
            </a:r>
            <a:r>
              <a:rPr lang="en-US" sz="2400" b="0" dirty="0"/>
              <a:t> </a:t>
            </a:r>
            <a:r>
              <a:rPr lang="en-US" sz="2400" b="0" dirty="0" err="1"/>
              <a:t>취약하므로</a:t>
            </a:r>
            <a:r>
              <a:rPr lang="en-US" sz="2400" b="0" dirty="0"/>
              <a:t> Decode </a:t>
            </a:r>
            <a:r>
              <a:rPr lang="en-US" sz="2400" b="0" dirty="0" err="1"/>
              <a:t>후</a:t>
            </a:r>
            <a:r>
              <a:rPr lang="en-US" sz="2400" b="0" dirty="0"/>
              <a:t> refinement </a:t>
            </a:r>
            <a:r>
              <a:rPr lang="en-US" sz="2400" b="0" dirty="0" err="1"/>
              <a:t>network를</a:t>
            </a:r>
            <a:r>
              <a:rPr lang="en-US" sz="2400" b="0" dirty="0"/>
              <a:t> </a:t>
            </a:r>
            <a:r>
              <a:rPr lang="en-US" sz="2400" b="0" dirty="0" err="1"/>
              <a:t>붙임</a:t>
            </a:r>
            <a:endParaRPr lang="en-US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 err="1"/>
              <a:t>구조는</a:t>
            </a:r>
            <a:r>
              <a:rPr lang="en-US" sz="2400" b="0" dirty="0"/>
              <a:t> </a:t>
            </a:r>
            <a:r>
              <a:rPr lang="en-US" sz="2400" b="0" dirty="0" err="1"/>
              <a:t>아래</a:t>
            </a:r>
            <a:r>
              <a:rPr lang="en-US" sz="2400" b="0" dirty="0"/>
              <a:t> </a:t>
            </a:r>
            <a:r>
              <a:rPr lang="en-US" sz="2400" b="0" dirty="0" err="1"/>
              <a:t>이미지와</a:t>
            </a:r>
            <a:r>
              <a:rPr lang="en-US" sz="2400" b="0" dirty="0"/>
              <a:t> </a:t>
            </a:r>
            <a:r>
              <a:rPr lang="en-US" sz="2400" b="0" dirty="0" err="1"/>
              <a:t>같음</a:t>
            </a:r>
            <a:r>
              <a:rPr lang="en-US" altLang="ko-KR" sz="2400" b="0" dirty="0"/>
              <a:t>. 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ko-KR" sz="2000" b="0" dirty="0"/>
              <a:t>GT G,A</a:t>
            </a:r>
            <a:r>
              <a:rPr lang="ko-KR" altLang="en-US" sz="2000" b="0" dirty="0" err="1"/>
              <a:t>에</a:t>
            </a:r>
            <a:r>
              <a:rPr lang="ko-KR" altLang="en-US" sz="2000" b="0" dirty="0"/>
              <a:t> </a:t>
            </a:r>
            <a:r>
              <a:rPr lang="en-US" altLang="ko-KR" sz="2000" b="0" dirty="0"/>
              <a:t>noise</a:t>
            </a:r>
            <a:r>
              <a:rPr lang="ko-KR" altLang="en-US" sz="2000" b="0" dirty="0" err="1"/>
              <a:t>를</a:t>
            </a:r>
            <a:r>
              <a:rPr lang="ko-KR" altLang="en-US" sz="2000" b="0" dirty="0"/>
              <a:t> 추가하고 </a:t>
            </a:r>
            <a:r>
              <a:rPr lang="en-US" altLang="ko-KR" sz="2000" b="0" dirty="0"/>
              <a:t>Refine</a:t>
            </a:r>
            <a:r>
              <a:rPr lang="ko-KR" altLang="en-US" sz="2000" b="0" dirty="0"/>
              <a:t>한 </a:t>
            </a:r>
            <a:r>
              <a:rPr lang="en-US" altLang="ko-KR" sz="2000" b="0" dirty="0"/>
              <a:t>pred</a:t>
            </a:r>
            <a:r>
              <a:rPr lang="ko-KR" altLang="en-US" sz="2000" b="0" dirty="0"/>
              <a:t>와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원본 </a:t>
            </a:r>
            <a:r>
              <a:rPr lang="en-US" altLang="ko-KR" sz="2000" b="0" dirty="0"/>
              <a:t>GT</a:t>
            </a:r>
            <a:r>
              <a:rPr lang="ko-KR" altLang="en-US" sz="2000" b="0" dirty="0" err="1"/>
              <a:t>를</a:t>
            </a:r>
            <a:r>
              <a:rPr lang="ko-KR" altLang="en-US" sz="2000" b="0" dirty="0"/>
              <a:t> 비교하는 방식</a:t>
            </a:r>
            <a:r>
              <a:rPr lang="ko-KR" altLang="en-US" sz="2000" dirty="0"/>
              <a:t>임</a:t>
            </a:r>
            <a:r>
              <a:rPr lang="en-US" altLang="ko-KR" sz="2000" dirty="0"/>
              <a:t>.</a:t>
            </a:r>
            <a:endParaRPr lang="en-US" altLang="ko-KR" sz="2000" b="0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2000" b="0" dirty="0"/>
              <a:t>Latent </a:t>
            </a:r>
            <a:r>
              <a:rPr lang="en-US" sz="2000" b="0" dirty="0" err="1"/>
              <a:t>수준이</a:t>
            </a:r>
            <a:r>
              <a:rPr lang="en-US" sz="2000" b="0" dirty="0"/>
              <a:t> </a:t>
            </a:r>
            <a:r>
              <a:rPr lang="en-US" sz="2000" b="0" dirty="0" err="1"/>
              <a:t>아니라</a:t>
            </a:r>
            <a:r>
              <a:rPr lang="en-US" sz="2000" b="0" dirty="0"/>
              <a:t> </a:t>
            </a:r>
            <a:r>
              <a:rPr lang="en-US" sz="2000" b="0" dirty="0" err="1"/>
              <a:t>실제</a:t>
            </a:r>
            <a:r>
              <a:rPr lang="en-US" sz="2000" b="0" dirty="0"/>
              <a:t> </a:t>
            </a:r>
            <a:r>
              <a:rPr lang="en-US" sz="2000" b="0" dirty="0" err="1"/>
              <a:t>구조를</a:t>
            </a:r>
            <a:r>
              <a:rPr lang="en-US" sz="2000" b="0" dirty="0"/>
              <a:t> </a:t>
            </a:r>
            <a:r>
              <a:rPr lang="en-US" sz="2000" b="0" dirty="0" err="1"/>
              <a:t>refin한다는</a:t>
            </a:r>
            <a:r>
              <a:rPr lang="en-US" sz="2000" b="0" dirty="0"/>
              <a:t> </a:t>
            </a:r>
            <a:r>
              <a:rPr lang="en-US" sz="2000" b="0" dirty="0" err="1"/>
              <a:t>점에서</a:t>
            </a:r>
            <a:r>
              <a:rPr lang="en-US" sz="2000" b="0" dirty="0"/>
              <a:t> </a:t>
            </a:r>
            <a:r>
              <a:rPr lang="en-US" sz="2000" b="0" dirty="0" err="1"/>
              <a:t>ours에</a:t>
            </a:r>
            <a:r>
              <a:rPr lang="en-US" sz="2000" b="0" dirty="0"/>
              <a:t> </a:t>
            </a:r>
            <a:r>
              <a:rPr lang="en-US" sz="2000" b="0" dirty="0" err="1"/>
              <a:t>적용</a:t>
            </a:r>
            <a:r>
              <a:rPr lang="en-US" sz="2000" b="0" dirty="0"/>
              <a:t> </a:t>
            </a:r>
            <a:r>
              <a:rPr lang="en-US" sz="2000" b="0" dirty="0" err="1"/>
              <a:t>가능함</a:t>
            </a:r>
            <a:r>
              <a:rPr lang="en-US" altLang="ko-KR" sz="2000" b="0" dirty="0"/>
              <a:t>.</a:t>
            </a:r>
            <a:endParaRPr lang="en-US" sz="20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D059EA-ADC0-6230-711D-5CF98503F074}"/>
              </a:ext>
            </a:extLst>
          </p:cNvPr>
          <p:cNvSpPr/>
          <p:nvPr/>
        </p:nvSpPr>
        <p:spPr>
          <a:xfrm>
            <a:off x="11280576" y="4783015"/>
            <a:ext cx="579152" cy="773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7AD3B1-7A45-9607-660D-D4AA280DBB17}"/>
              </a:ext>
            </a:extLst>
          </p:cNvPr>
          <p:cNvSpPr/>
          <p:nvPr/>
        </p:nvSpPr>
        <p:spPr>
          <a:xfrm>
            <a:off x="11167110" y="4783015"/>
            <a:ext cx="880110" cy="62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408A476-10C5-A84A-BC1D-CB0500E7A8B9}"/>
              </a:ext>
            </a:extLst>
          </p:cNvPr>
          <p:cNvSpPr txBox="1">
            <a:spLocks/>
          </p:cNvSpPr>
          <p:nvPr/>
        </p:nvSpPr>
        <p:spPr>
          <a:xfrm>
            <a:off x="7779991" y="5644656"/>
            <a:ext cx="6312569" cy="140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0"/>
            <a:endParaRPr lang="en-US" sz="2600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A38E56-52FA-6290-4EED-4028D823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107" y="4545420"/>
            <a:ext cx="5745703" cy="172194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5D9A1B6-5EA8-4654-C7AD-084814183DC4}"/>
              </a:ext>
            </a:extLst>
          </p:cNvPr>
          <p:cNvCxnSpPr/>
          <p:nvPr/>
        </p:nvCxnSpPr>
        <p:spPr>
          <a:xfrm>
            <a:off x="8021053" y="4989095"/>
            <a:ext cx="354909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B1544D3-0CD1-E071-00B4-66A9048F1031}"/>
              </a:ext>
            </a:extLst>
          </p:cNvPr>
          <p:cNvCxnSpPr>
            <a:cxnSpLocks/>
          </p:cNvCxnSpPr>
          <p:nvPr/>
        </p:nvCxnSpPr>
        <p:spPr>
          <a:xfrm flipH="1">
            <a:off x="8646695" y="5028522"/>
            <a:ext cx="2807361" cy="676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289987E-F045-B559-9B0B-7B2D31EE44DF}"/>
              </a:ext>
            </a:extLst>
          </p:cNvPr>
          <p:cNvCxnSpPr>
            <a:cxnSpLocks/>
          </p:cNvCxnSpPr>
          <p:nvPr/>
        </p:nvCxnSpPr>
        <p:spPr>
          <a:xfrm flipV="1">
            <a:off x="8696328" y="5695648"/>
            <a:ext cx="2845662" cy="233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3E3A53C-0FDE-32F1-C17E-05E27ED56402}"/>
              </a:ext>
            </a:extLst>
          </p:cNvPr>
          <p:cNvCxnSpPr>
            <a:cxnSpLocks/>
          </p:cNvCxnSpPr>
          <p:nvPr/>
        </p:nvCxnSpPr>
        <p:spPr>
          <a:xfrm flipH="1">
            <a:off x="9103895" y="5740286"/>
            <a:ext cx="2350161" cy="3810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8AAE2156-EEDA-4BD8-2213-EA1BC966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83" y="3474828"/>
            <a:ext cx="4872969" cy="279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827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4EC6A-9DE0-534F-8424-C782D4D23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7B6D7-ACB0-8178-232B-E7CD1A2D2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2AFFC5-C038-9BFE-2A24-1E950ADD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8069C-70D6-6B37-3B2F-33B294975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/>
              <a:t>NVS </a:t>
            </a:r>
            <a:r>
              <a:rPr lang="en-US" sz="2400" b="0" dirty="0" err="1"/>
              <a:t>protocol을</a:t>
            </a:r>
            <a:r>
              <a:rPr lang="en-US" sz="2400" b="0" dirty="0"/>
              <a:t> </a:t>
            </a:r>
            <a:r>
              <a:rPr lang="en-US" sz="2400" b="0" dirty="0" err="1"/>
              <a:t>사용함</a:t>
            </a:r>
            <a:endParaRPr lang="en-US" sz="2400" b="0" dirty="0"/>
          </a:p>
          <a:p>
            <a:pPr marL="228600" indent="0"/>
            <a:r>
              <a:rPr lang="en-US" altLang="ko-Kore-KR" sz="2400" b="0" dirty="0"/>
              <a:t>Input : frame T multi-view ( </a:t>
            </a:r>
            <a:r>
              <a:rPr lang="en-US" altLang="ko-Kore-KR" sz="2400" b="0" dirty="0" err="1"/>
              <a:t>전방</a:t>
            </a:r>
            <a:r>
              <a:rPr lang="en-US" altLang="ko-Kore-KR" sz="2400" b="0" dirty="0"/>
              <a:t> </a:t>
            </a:r>
            <a:r>
              <a:rPr lang="en-US" altLang="ko-Kore-KR" sz="2400" b="0" dirty="0" err="1"/>
              <a:t>카메라</a:t>
            </a:r>
            <a:r>
              <a:rPr lang="en-US" altLang="ko-Kore-KR" sz="2400" b="0" dirty="0"/>
              <a:t> </a:t>
            </a:r>
            <a:r>
              <a:rPr lang="en-US" altLang="ko-KR" sz="2400" b="0" dirty="0"/>
              <a:t>3</a:t>
            </a:r>
            <a:r>
              <a:rPr lang="ko-KR" altLang="en-US" sz="2400" b="0" dirty="0"/>
              <a:t>개</a:t>
            </a:r>
            <a:r>
              <a:rPr lang="en-US" altLang="ko-KR" sz="2400" b="0" dirty="0"/>
              <a:t>)</a:t>
            </a:r>
            <a:endParaRPr lang="en-US" altLang="ko-Kore-KR" sz="2400" b="0" dirty="0"/>
          </a:p>
          <a:p>
            <a:pPr marL="228600" indent="0"/>
            <a:r>
              <a:rPr lang="en-US" altLang="ko-Kore-KR" sz="2400" b="0" dirty="0"/>
              <a:t>Eval 1. Frame T Recon</a:t>
            </a:r>
          </a:p>
          <a:p>
            <a:pPr marL="228600" indent="0"/>
            <a:r>
              <a:rPr lang="en-US" altLang="ko-Kore-KR" sz="2400" b="0" dirty="0"/>
              <a:t>Eval 2. Frame T+5, T+10 Pred</a:t>
            </a:r>
          </a:p>
          <a:p>
            <a:pPr marL="228600" indent="0"/>
            <a:endParaRPr lang="en-US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ore-KR" sz="2400" b="0" dirty="0"/>
              <a:t>Metric</a:t>
            </a:r>
            <a:r>
              <a:rPr lang="ko-Kore-KR" altLang="en-US" sz="2400" b="0" dirty="0"/>
              <a:t> </a:t>
            </a:r>
            <a:r>
              <a:rPr lang="en-US" altLang="ko-Kore-KR" sz="2400" b="0" dirty="0"/>
              <a:t>: </a:t>
            </a:r>
            <a:r>
              <a:rPr lang="en-US" altLang="ko-KR" sz="2400" b="0" dirty="0"/>
              <a:t>PSNR, LPIPS, SSIM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ore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400" b="0" dirty="0"/>
              <a:t>Baselines : </a:t>
            </a:r>
            <a:endParaRPr lang="en-US" altLang="ko-Kore-KR" sz="2400" b="0" dirty="0"/>
          </a:p>
          <a:p>
            <a:pPr marL="228600" indent="0"/>
            <a:endParaRPr lang="en-US" sz="24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36C739-5B3A-E466-B629-60462895AA34}"/>
              </a:ext>
            </a:extLst>
          </p:cNvPr>
          <p:cNvSpPr/>
          <p:nvPr/>
        </p:nvSpPr>
        <p:spPr>
          <a:xfrm>
            <a:off x="11280576" y="4783015"/>
            <a:ext cx="579152" cy="773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5DBFF3-D9C1-5493-465D-F6FDBB2C1D8C}"/>
              </a:ext>
            </a:extLst>
          </p:cNvPr>
          <p:cNvSpPr/>
          <p:nvPr/>
        </p:nvSpPr>
        <p:spPr>
          <a:xfrm>
            <a:off x="11167110" y="4783015"/>
            <a:ext cx="880110" cy="62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9C8D6A8-7BD4-0580-0CB2-B5816D315163}"/>
              </a:ext>
            </a:extLst>
          </p:cNvPr>
          <p:cNvSpPr txBox="1">
            <a:spLocks/>
          </p:cNvSpPr>
          <p:nvPr/>
        </p:nvSpPr>
        <p:spPr>
          <a:xfrm>
            <a:off x="7779991" y="5644656"/>
            <a:ext cx="6312569" cy="140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0"/>
            <a:endParaRPr lang="en-US" sz="26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B87CD0-00EA-F214-FA14-44B202DA9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306" y="4660230"/>
            <a:ext cx="2039929" cy="134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7465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C10A-76D3-637C-89A2-90121730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0CBB3A-8066-2BB4-3747-CD8F0B7EF1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3FDCA8-17EB-6816-98CB-4EA79BDA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00FBB-70DE-5469-9650-73A1A4339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/>
              <a:t>NVS protocol </a:t>
            </a:r>
            <a:r>
              <a:rPr lang="en-US" sz="2400" b="0" dirty="0" err="1"/>
              <a:t>실험</a:t>
            </a:r>
            <a:r>
              <a:rPr lang="en-US" sz="2400" b="0" dirty="0"/>
              <a:t> </a:t>
            </a:r>
            <a:r>
              <a:rPr lang="en-US" sz="2400" b="0" dirty="0" err="1"/>
              <a:t>결과는</a:t>
            </a:r>
            <a:r>
              <a:rPr lang="en-US" sz="2400" b="0" dirty="0"/>
              <a:t> </a:t>
            </a:r>
            <a:r>
              <a:rPr lang="en-US" sz="2400" b="0" dirty="0" err="1"/>
              <a:t>아래와</a:t>
            </a:r>
            <a:r>
              <a:rPr lang="en-US" sz="2400" b="0" dirty="0"/>
              <a:t> </a:t>
            </a:r>
            <a:r>
              <a:rPr lang="en-US" sz="2400" b="0" dirty="0" err="1"/>
              <a:t>같음</a:t>
            </a:r>
            <a:endParaRPr lang="en-US" sz="2400" b="0" dirty="0"/>
          </a:p>
          <a:p>
            <a:r>
              <a:rPr lang="en-US" altLang="ko-Kore-KR" sz="2000" dirty="0"/>
              <a:t>Baseline : </a:t>
            </a:r>
            <a:r>
              <a:rPr lang="ko-Kore-KR" altLang="ko-Kore-KR" sz="1800" b="0" dirty="0"/>
              <a:t>take images and their corresponding camera parameters</a:t>
            </a:r>
          </a:p>
          <a:p>
            <a:r>
              <a:rPr lang="ko-Kore-KR" altLang="ko-Kore-KR" sz="1800" b="0" dirty="0"/>
              <a:t>as input and reconstruct NeRFs or 3D Gaussian representations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US" altLang="ko-Kore-KR" sz="2000" b="0" dirty="0"/>
          </a:p>
          <a:p>
            <a:pPr marL="228600" indent="0"/>
            <a:endParaRPr lang="en-US" sz="24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14E15E-84A4-44CD-0A3C-17AE910D1DC9}"/>
              </a:ext>
            </a:extLst>
          </p:cNvPr>
          <p:cNvSpPr/>
          <p:nvPr/>
        </p:nvSpPr>
        <p:spPr>
          <a:xfrm>
            <a:off x="11280576" y="4783015"/>
            <a:ext cx="579152" cy="773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F3376A-A7B3-7EEC-9AA5-3279EB6192A5}"/>
              </a:ext>
            </a:extLst>
          </p:cNvPr>
          <p:cNvSpPr/>
          <p:nvPr/>
        </p:nvSpPr>
        <p:spPr>
          <a:xfrm>
            <a:off x="11167110" y="4783015"/>
            <a:ext cx="880110" cy="62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124E5A-47DD-B88C-6133-5254DC158CA3}"/>
              </a:ext>
            </a:extLst>
          </p:cNvPr>
          <p:cNvSpPr txBox="1">
            <a:spLocks/>
          </p:cNvSpPr>
          <p:nvPr/>
        </p:nvSpPr>
        <p:spPr>
          <a:xfrm>
            <a:off x="7779991" y="5644656"/>
            <a:ext cx="6312569" cy="140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0"/>
            <a:endParaRPr lang="en-US" sz="2600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FF5DCC-5B6A-912E-20D2-07C270CE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010" y="2546717"/>
            <a:ext cx="5830581" cy="412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5617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A6E3195-9CEB-4023-4332-A30C020E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4D5A7DE9-32B7-EC5F-D850-DD08DFAE105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6054"/>
            <a:ext cx="121920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altLang="ko-KR" sz="4800" dirty="0"/>
              <a:t>Horizon</a:t>
            </a:r>
            <a:r>
              <a:rPr lang="ko-KR" altLang="en-US" sz="4800" dirty="0"/>
              <a:t> </a:t>
            </a:r>
            <a:r>
              <a:rPr lang="en-US" altLang="ko-KR" sz="4800" dirty="0"/>
              <a:t>GS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0401012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B1D4-5432-D99F-681B-810798F6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C6011F-E5E5-CE6B-2502-932BF6987A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A89DAB4-F0FE-1E98-F004-1FB2C00D9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Motivation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7D0FE-7268-B1CF-CDBC-5020EB147A66}"/>
              </a:ext>
            </a:extLst>
          </p:cNvPr>
          <p:cNvSpPr txBox="1"/>
          <p:nvPr/>
        </p:nvSpPr>
        <p:spPr>
          <a:xfrm>
            <a:off x="420030" y="1015505"/>
            <a:ext cx="1143371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en-US" altLang="ko-Kore-KR" sz="2400" dirty="0"/>
              <a:t>Task : Arial view dataset, street view dataset</a:t>
            </a:r>
            <a:r>
              <a:rPr lang="ko-Kore-KR" altLang="en-US" sz="2400" dirty="0"/>
              <a:t>을 같이 </a:t>
            </a:r>
            <a:r>
              <a:rPr lang="en-US" altLang="ko-Kore-KR" sz="2400" dirty="0"/>
              <a:t>3DGS training</a:t>
            </a:r>
            <a:r>
              <a:rPr lang="ko-Kore-KR" altLang="en-US" sz="2400" dirty="0"/>
              <a:t>에 사용하자</a:t>
            </a:r>
            <a:r>
              <a:rPr lang="en-US" altLang="ko-Kore-KR" sz="2400" dirty="0"/>
              <a:t>!</a:t>
            </a:r>
          </a:p>
          <a:p>
            <a:pPr marL="228600"/>
            <a:endParaRPr lang="en-US" altLang="ko-Kore-KR" sz="2400" dirty="0"/>
          </a:p>
          <a:p>
            <a:pPr marL="228600"/>
            <a:r>
              <a:rPr lang="en-US" altLang="ko-Kore-KR" sz="2400" dirty="0"/>
              <a:t>Problem statement</a:t>
            </a:r>
          </a:p>
          <a:p>
            <a:pPr marL="571500" indent="-342900">
              <a:buFontTx/>
              <a:buChar char="-"/>
            </a:pPr>
            <a:r>
              <a:rPr lang="en-US" altLang="ko-Kore-KR" sz="2200" dirty="0"/>
              <a:t>Arial 1px = 20cm, street 1px = 2mm</a:t>
            </a:r>
          </a:p>
          <a:p>
            <a:pPr marL="571500" indent="-342900">
              <a:buFontTx/>
              <a:buChar char="-"/>
            </a:pPr>
            <a:r>
              <a:rPr lang="en-US" altLang="ko-Kore-KR" sz="2200" dirty="0"/>
              <a:t>GS densification </a:t>
            </a:r>
            <a:r>
              <a:rPr lang="ko-Kore-KR" altLang="en-US" sz="2200" dirty="0"/>
              <a:t>과정에서 이 둘은 각각 </a:t>
            </a:r>
            <a:r>
              <a:rPr lang="en-US" altLang="ko-Kore-KR" sz="2200" dirty="0" err="1"/>
              <a:t>GSsplat</a:t>
            </a:r>
            <a:r>
              <a:rPr lang="ko-Kore-KR" altLang="en-US" sz="2200" dirty="0"/>
              <a:t>을 각각 분리</a:t>
            </a:r>
            <a:r>
              <a:rPr lang="en-US" altLang="ko-Kore-KR" sz="2200" dirty="0"/>
              <a:t>/</a:t>
            </a:r>
            <a:r>
              <a:rPr lang="ko-Kore-KR" altLang="en-US" sz="2200" dirty="0"/>
              <a:t>분리하지 않는 방향으로 </a:t>
            </a:r>
            <a:r>
              <a:rPr lang="en-US" altLang="ko-Kore-KR" sz="2200" dirty="0"/>
              <a:t>forcing -&gt; conflict </a:t>
            </a:r>
            <a:r>
              <a:rPr lang="ko-Kore-KR" altLang="en-US" sz="2200" dirty="0"/>
              <a:t>발생함</a:t>
            </a:r>
            <a:r>
              <a:rPr lang="en-US" altLang="ko-Kore-KR" sz="2200" dirty="0"/>
              <a:t>.</a:t>
            </a:r>
          </a:p>
          <a:p>
            <a:pPr marL="228600"/>
            <a:endParaRPr lang="en-US" altLang="ko-Kore-KR" sz="2400" dirty="0"/>
          </a:p>
          <a:p>
            <a:pPr marL="228600"/>
            <a:r>
              <a:rPr lang="ko-Kore-KR" altLang="en-US" sz="2400" dirty="0"/>
              <a:t>* 단</a:t>
            </a:r>
            <a:r>
              <a:rPr lang="en-US" altLang="ko-Kore-KR" sz="2400" dirty="0"/>
              <a:t>, ours</a:t>
            </a:r>
            <a:r>
              <a:rPr lang="ko-Kore-KR" altLang="en-US" sz="2400" dirty="0"/>
              <a:t>는 </a:t>
            </a:r>
            <a:r>
              <a:rPr lang="en-US" altLang="ko-Kore-KR" sz="2400" dirty="0"/>
              <a:t>2D rendered loss</a:t>
            </a:r>
            <a:r>
              <a:rPr lang="ko-Kore-KR" altLang="en-US" sz="2400" dirty="0"/>
              <a:t>가 아닌</a:t>
            </a:r>
            <a:r>
              <a:rPr lang="en-US" altLang="ko-Kore-KR" sz="2400" dirty="0"/>
              <a:t>, 3D</a:t>
            </a:r>
            <a:r>
              <a:rPr lang="ko-Kore-KR" altLang="en-US" sz="2400" dirty="0"/>
              <a:t>에서 </a:t>
            </a:r>
            <a:r>
              <a:rPr lang="en-US" altLang="ko-Kore-KR" sz="2400" dirty="0"/>
              <a:t>BCE loss</a:t>
            </a:r>
            <a:r>
              <a:rPr lang="ko-Kore-KR" altLang="en-US" sz="2400" dirty="0"/>
              <a:t>를 사용하기에 이러한 이 문제정의에 포함되지 않음</a:t>
            </a:r>
            <a:endParaRPr lang="en-US" altLang="ko-Kore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DC0CCB-7791-4278-C2B7-ECFDF6733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888" y="3977413"/>
            <a:ext cx="4976390" cy="269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8622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47BF-B46D-ECD4-E5C7-5C68E4BA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630022-01F1-25C7-F830-1F13EC2B56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20441F-AB20-4769-68D9-26AC8321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8287A-9DDA-EAB6-31C1-AB419EE25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800" b="0" dirty="0"/>
              <a:t>Training </a:t>
            </a:r>
            <a:r>
              <a:rPr lang="en-US" sz="2800" b="0" dirty="0" err="1"/>
              <a:t>을</a:t>
            </a:r>
            <a:r>
              <a:rPr lang="en-US" sz="2800" b="0" dirty="0"/>
              <a:t> 2-stage로 </a:t>
            </a:r>
            <a:r>
              <a:rPr lang="en-US" sz="2800" b="0" dirty="0" err="1"/>
              <a:t>분리함</a:t>
            </a:r>
            <a:r>
              <a:rPr lang="en-US" altLang="ko-KR" sz="2800" b="0" dirty="0"/>
              <a:t>. (</a:t>
            </a:r>
            <a:r>
              <a:rPr lang="ko-KR" altLang="en-US" sz="2800" b="0" dirty="0"/>
              <a:t>시간 축으로</a:t>
            </a:r>
            <a:r>
              <a:rPr lang="en-US" altLang="ko-KR" sz="2800" b="0" dirty="0"/>
              <a:t>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/>
              <a:t>Stage 1 : Arial </a:t>
            </a:r>
            <a:r>
              <a:rPr lang="en-US" sz="2400" b="0" dirty="0" err="1"/>
              <a:t>dataset으로</a:t>
            </a:r>
            <a:r>
              <a:rPr lang="en-US" sz="2400" b="0" dirty="0"/>
              <a:t> </a:t>
            </a:r>
            <a:r>
              <a:rPr lang="en-US" sz="2400" b="0" dirty="0" err="1"/>
              <a:t>corse한</a:t>
            </a:r>
            <a:r>
              <a:rPr lang="en-US" sz="2400" b="0" dirty="0"/>
              <a:t> </a:t>
            </a:r>
            <a:r>
              <a:rPr lang="en-US" sz="2400" b="0" dirty="0" err="1"/>
              <a:t>골격을</a:t>
            </a:r>
            <a:r>
              <a:rPr lang="en-US" sz="2400" b="0" dirty="0"/>
              <a:t> </a:t>
            </a:r>
            <a:r>
              <a:rPr lang="en-US" sz="2400" b="0" dirty="0" err="1"/>
              <a:t>잡음</a:t>
            </a:r>
            <a:endParaRPr lang="en-US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/>
              <a:t>Stage 2 : Street </a:t>
            </a:r>
            <a:r>
              <a:rPr lang="en-US" sz="2400" b="0" dirty="0" err="1"/>
              <a:t>dataset으로</a:t>
            </a:r>
            <a:r>
              <a:rPr lang="en-US" sz="2400" b="0" dirty="0"/>
              <a:t> </a:t>
            </a:r>
            <a:r>
              <a:rPr lang="en-US" sz="2400" b="0" dirty="0" err="1"/>
              <a:t>fine한</a:t>
            </a:r>
            <a:r>
              <a:rPr lang="en-US" sz="2400" b="0" dirty="0"/>
              <a:t> </a:t>
            </a:r>
            <a:r>
              <a:rPr lang="en-US" sz="2400" b="0" dirty="0" err="1"/>
              <a:t>디테일을</a:t>
            </a:r>
            <a:r>
              <a:rPr lang="en-US" sz="2400" b="0" dirty="0"/>
              <a:t> </a:t>
            </a:r>
            <a:r>
              <a:rPr lang="en-US" sz="2400" b="0" dirty="0" err="1"/>
              <a:t>잡음</a:t>
            </a:r>
            <a:endParaRPr lang="en-US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b="0" dirty="0"/>
              <a:t>Octree </a:t>
            </a:r>
            <a:r>
              <a:rPr lang="en-US" sz="2400" b="0" dirty="0" err="1"/>
              <a:t>GS를</a:t>
            </a:r>
            <a:r>
              <a:rPr lang="en-US" sz="2400" b="0" dirty="0"/>
              <a:t> </a:t>
            </a:r>
            <a:r>
              <a:rPr lang="en-US" sz="2400" b="0" dirty="0" err="1"/>
              <a:t>사용하였으며</a:t>
            </a:r>
            <a:r>
              <a:rPr lang="en-US" altLang="ko-KR" sz="2400" b="0" dirty="0"/>
              <a:t>, stage 1</a:t>
            </a:r>
            <a:r>
              <a:rPr lang="ko-KR" altLang="en-US" sz="2400" b="0" dirty="0"/>
              <a:t>에서 낮은 </a:t>
            </a:r>
            <a:r>
              <a:rPr lang="en-US" altLang="ko-KR" sz="2400" b="0" dirty="0"/>
              <a:t>level</a:t>
            </a:r>
            <a:r>
              <a:rPr lang="ko-KR" altLang="en-US" sz="2400" b="0" dirty="0"/>
              <a:t>을</a:t>
            </a:r>
            <a:r>
              <a:rPr lang="en-US" altLang="ko-KR" sz="2400" b="0" dirty="0"/>
              <a:t>, stage 2</a:t>
            </a:r>
            <a:r>
              <a:rPr lang="ko-KR" altLang="en-US" sz="2400" b="0" dirty="0"/>
              <a:t>에서 높은 </a:t>
            </a:r>
            <a:r>
              <a:rPr lang="en-US" altLang="ko-KR" sz="2400" b="0" dirty="0"/>
              <a:t>level</a:t>
            </a:r>
            <a:r>
              <a:rPr lang="ko-KR" altLang="en-US" sz="2400" b="0" dirty="0"/>
              <a:t>을 학습</a:t>
            </a:r>
            <a:endParaRPr lang="en-US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sz="2800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7AAD5A-7679-6776-57BD-DD53DE7F6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65" y="4374474"/>
            <a:ext cx="4762500" cy="977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059C3E-DF10-18FF-F323-A11E2D5B9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13073"/>
            <a:ext cx="4062501" cy="230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7169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7406-D622-F507-E99B-D31B9A48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8FE1E-4C38-9B34-7CC3-7871AA4BB8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6C5296-C8BE-A5F7-A434-422F28FB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  : Depth Supervision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43B7C-D5EF-CB4B-AB3D-6B2DE36F3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800" b="0" dirty="0"/>
              <a:t>Stage 1에서 Arial </a:t>
            </a:r>
            <a:r>
              <a:rPr lang="en-US" sz="2800" b="0" dirty="0" err="1"/>
              <a:t>dataset만으로</a:t>
            </a:r>
            <a:r>
              <a:rPr lang="en-US" sz="2800" b="0" dirty="0"/>
              <a:t> </a:t>
            </a:r>
            <a:r>
              <a:rPr lang="en-US" sz="2800" b="0" dirty="0" err="1"/>
              <a:t>골격을</a:t>
            </a:r>
            <a:r>
              <a:rPr lang="en-US" sz="2800" b="0" dirty="0"/>
              <a:t> </a:t>
            </a:r>
            <a:r>
              <a:rPr lang="en-US" sz="2800" b="0" dirty="0" err="1"/>
              <a:t>만들기에</a:t>
            </a:r>
            <a:r>
              <a:rPr lang="en-US" sz="2800" b="0" dirty="0"/>
              <a:t> </a:t>
            </a:r>
            <a:r>
              <a:rPr lang="en-US" sz="2800" b="0" dirty="0" err="1"/>
              <a:t>한계가</a:t>
            </a:r>
            <a:r>
              <a:rPr lang="en-US" sz="2800" b="0" dirty="0"/>
              <a:t> </a:t>
            </a:r>
            <a:r>
              <a:rPr lang="en-US" sz="2800" b="0" dirty="0" err="1"/>
              <a:t>있어</a:t>
            </a:r>
            <a:r>
              <a:rPr lang="en-US" altLang="ko-KR" sz="2800" b="0" dirty="0"/>
              <a:t>, </a:t>
            </a:r>
            <a:r>
              <a:rPr lang="ko-KR" altLang="en-US" sz="2800" b="0" dirty="0"/>
              <a:t>강화하기 위해 </a:t>
            </a:r>
            <a:r>
              <a:rPr lang="en-US" altLang="ko-KR" sz="2800" b="0" dirty="0"/>
              <a:t>depth supervision</a:t>
            </a:r>
            <a:r>
              <a:rPr lang="ko-KR" altLang="en-US" sz="2800" b="0" dirty="0"/>
              <a:t>을 사용함</a:t>
            </a:r>
            <a:endParaRPr lang="en-US" altLang="ko-KR" sz="28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800" b="0" dirty="0"/>
              <a:t>Pseudo GT depth </a:t>
            </a:r>
            <a:r>
              <a:rPr lang="ko-KR" altLang="en-US" sz="2800" b="0" dirty="0" err="1"/>
              <a:t>를</a:t>
            </a:r>
            <a:r>
              <a:rPr lang="ko-KR" altLang="en-US" sz="2800" b="0" dirty="0"/>
              <a:t> 사용함</a:t>
            </a:r>
            <a:endParaRPr lang="en-US" altLang="ko-KR" sz="28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406041-CF19-A3E4-1B40-DCD9D870C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50" y="2760573"/>
            <a:ext cx="53213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1920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CABF-BAD0-F365-731A-1B48801B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704F96-F20C-38A8-E42D-03703F83EA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AC464A-3D69-E470-3626-76D215B17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7BD3-6EBD-97F5-4AAE-1A6DFA23D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45768"/>
            <a:ext cx="10972801" cy="5556383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800" b="0" dirty="0"/>
              <a:t>Metric : PNSR / LPIPS / SSIM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400" b="0" dirty="0"/>
              <a:t>왜 </a:t>
            </a:r>
            <a:r>
              <a:rPr lang="en-US" altLang="ko-KR" sz="2400" b="0" dirty="0"/>
              <a:t>Surface recon</a:t>
            </a:r>
            <a:r>
              <a:rPr lang="ko-KR" altLang="en-US" sz="2400" dirty="0"/>
              <a:t>도 이 </a:t>
            </a:r>
            <a:r>
              <a:rPr lang="en-US" altLang="ko-KR" sz="2400" dirty="0"/>
              <a:t>metric</a:t>
            </a:r>
            <a:r>
              <a:rPr lang="ko-KR" altLang="en-US" sz="2400" dirty="0" err="1"/>
              <a:t>으로</a:t>
            </a:r>
            <a:r>
              <a:rPr lang="ko-KR" altLang="en-US" sz="2400" dirty="0"/>
              <a:t> 쟀는지 모르겠음</a:t>
            </a:r>
            <a:endParaRPr lang="en-US" altLang="ko-KR" sz="24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800" b="0" dirty="0"/>
              <a:t>Baseline</a:t>
            </a:r>
            <a:r>
              <a:rPr lang="en-US" altLang="ko-KR" b="0" dirty="0"/>
              <a:t> </a:t>
            </a:r>
            <a:r>
              <a:rPr lang="en-US" altLang="ko-KR" sz="2400" b="0" dirty="0"/>
              <a:t>: </a:t>
            </a:r>
            <a:r>
              <a:rPr lang="ko-Kore-KR" altLang="ko-Kore-KR" sz="2400" b="0" dirty="0"/>
              <a:t>3D-GS,</a:t>
            </a:r>
            <a:r>
              <a:rPr lang="en-US" altLang="ko-Kore-KR" sz="2400" b="0" dirty="0"/>
              <a:t> </a:t>
            </a:r>
            <a:r>
              <a:rPr lang="ko-Kore-KR" altLang="ko-Kore-KR" sz="2400" b="0" dirty="0"/>
              <a:t>Scaffold-GS, UC-GS and Hierarchical-3DGS</a:t>
            </a:r>
            <a:r>
              <a:rPr lang="en-US" altLang="ko-Kore-KR" sz="2400" b="0" dirty="0"/>
              <a:t> </a:t>
            </a:r>
            <a:r>
              <a:rPr lang="ko-Kore-KR" altLang="ko-Kore-KR" sz="2400" b="0" dirty="0"/>
              <a:t>for rendering, as we</a:t>
            </a:r>
            <a:r>
              <a:rPr lang="en-US" altLang="ko-Kore-KR" sz="2400" b="0" dirty="0" err="1"/>
              <a:t>ll</a:t>
            </a:r>
            <a:r>
              <a:rPr lang="en-US" altLang="ko-Kore-KR" sz="2400" b="0" dirty="0"/>
              <a:t> as 2D-GS for surface recon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R" sz="28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800" b="0" dirty="0"/>
              <a:t>Protocol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ko-KR" sz="2400" b="0" dirty="0"/>
              <a:t>Scene</a:t>
            </a:r>
            <a:r>
              <a:rPr lang="ko-KR" altLang="en-US" sz="2400" b="0" dirty="0"/>
              <a:t>을 </a:t>
            </a:r>
            <a:r>
              <a:rPr lang="en-US" altLang="ko-KR" sz="2400" b="0" dirty="0"/>
              <a:t>chunk </a:t>
            </a:r>
            <a:r>
              <a:rPr lang="ko-KR" altLang="en-US" sz="2400" b="0" dirty="0"/>
              <a:t>단위로 나눠서 </a:t>
            </a:r>
            <a:r>
              <a:rPr lang="en-US" altLang="ko-KR" sz="2400" b="0" dirty="0"/>
              <a:t>Render. (Overlap render)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400" b="0" dirty="0"/>
              <a:t>각 </a:t>
            </a:r>
            <a:r>
              <a:rPr lang="en-US" altLang="ko-KR" sz="2400" b="0" dirty="0"/>
              <a:t>Scene </a:t>
            </a:r>
            <a:r>
              <a:rPr lang="ko-KR" altLang="en-US" sz="2400" b="0" dirty="0"/>
              <a:t>안의 </a:t>
            </a:r>
            <a:r>
              <a:rPr lang="en-US" altLang="ko-KR" sz="2400" dirty="0"/>
              <a:t>rendering view</a:t>
            </a:r>
            <a:r>
              <a:rPr lang="ko-KR" altLang="en-US" sz="2400" dirty="0"/>
              <a:t>는 속한 </a:t>
            </a:r>
            <a:r>
              <a:rPr lang="en-US" altLang="ko-KR" sz="2400" dirty="0"/>
              <a:t>chunk</a:t>
            </a:r>
            <a:r>
              <a:rPr lang="ko-KR" altLang="en-US" sz="2400" dirty="0"/>
              <a:t>만 사용해서 </a:t>
            </a:r>
            <a:r>
              <a:rPr lang="en-US" altLang="ko-KR" sz="2400" dirty="0"/>
              <a:t>render</a:t>
            </a:r>
            <a:endParaRPr lang="en-US" altLang="ko-KR" sz="2400" b="0" dirty="0"/>
          </a:p>
        </p:txBody>
      </p:sp>
    </p:spTree>
    <p:extLst>
      <p:ext uri="{BB962C8B-B14F-4D97-AF65-F5344CB8AC3E}">
        <p14:creationId xmlns:p14="http://schemas.microsoft.com/office/powerpoint/2010/main" val="194583809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EF5F-30BD-BA4E-9AD7-AD63D25B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1DE513-283E-7F3B-42B0-4CD297C11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911326-ABCF-D181-B6D2-F4C33613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CB34E-E674-1142-2815-3AEB328F2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ore-KR" sz="2800" b="0" dirty="0"/>
              <a:t>Small-scale </a:t>
            </a:r>
            <a:r>
              <a:rPr lang="en-US" altLang="ko-KR" sz="2800" b="0" dirty="0"/>
              <a:t>/ Large-scale</a:t>
            </a:r>
            <a:r>
              <a:rPr lang="ko-KR" altLang="en-US" sz="2800" b="0" dirty="0"/>
              <a:t> 실험으로 나눔</a:t>
            </a:r>
            <a:endParaRPr lang="en-US" altLang="ko-KR" sz="2800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12749F-1BE6-BAB5-EB2E-4BFC26D2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492" y="1997808"/>
            <a:ext cx="8707016" cy="19940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B3A254A-1D28-D0E9-6D5B-320602DAA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491" y="3991884"/>
            <a:ext cx="8707015" cy="21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3652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811FC-D383-C8F9-ED72-276ABF72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A3E85-7736-C64F-5AF2-CC27644A4C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D1B701-9381-68D0-0203-B59B79B7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E53FF-7D6E-89C3-CA60-1AE400F79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800" b="0" dirty="0"/>
              <a:t>Street-view only</a:t>
            </a:r>
            <a:r>
              <a:rPr lang="ko-KR" altLang="en-US" sz="2800" b="0" dirty="0"/>
              <a:t> 대비 </a:t>
            </a:r>
            <a:r>
              <a:rPr lang="en-US" altLang="ko-KR" sz="2800" b="0" dirty="0"/>
              <a:t>NVS</a:t>
            </a:r>
            <a:r>
              <a:rPr lang="ko-KR" altLang="en-US" sz="2800" b="0" dirty="0"/>
              <a:t>의 장점을 어필하기 위해</a:t>
            </a:r>
            <a:r>
              <a:rPr lang="en-US" altLang="ko-KR" sz="2800" b="0" dirty="0"/>
              <a:t>, </a:t>
            </a:r>
            <a:r>
              <a:rPr lang="ko-KR" altLang="en-US" sz="2800" b="0" dirty="0"/>
              <a:t>관측 위치를 분리함</a:t>
            </a:r>
            <a:endParaRPr lang="en-US" altLang="ko-KR" sz="2800" b="0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ko-KR" sz="2400" b="0" dirty="0"/>
              <a:t>Held-out (</a:t>
            </a:r>
            <a:r>
              <a:rPr lang="ko-KR" altLang="en-US" sz="2400" b="0" dirty="0"/>
              <a:t>일반적 </a:t>
            </a:r>
            <a:r>
              <a:rPr lang="en-US" altLang="ko-KR" sz="2400" b="0" dirty="0"/>
              <a:t>street view), View+1m(</a:t>
            </a:r>
            <a:r>
              <a:rPr lang="ko-KR" altLang="en-US" sz="2400" b="0" dirty="0"/>
              <a:t>상공 </a:t>
            </a:r>
            <a:r>
              <a:rPr lang="en-US" altLang="ko-KR" sz="2400" b="0" dirty="0"/>
              <a:t>1m view), </a:t>
            </a:r>
            <a:br>
              <a:rPr lang="en-US" altLang="ko-KR" sz="2400" b="0" dirty="0"/>
            </a:br>
            <a:r>
              <a:rPr lang="en-US" altLang="ko-KR" sz="2400" b="0" dirty="0"/>
              <a:t>View+1m 5*down(</a:t>
            </a:r>
            <a:r>
              <a:rPr lang="ko-KR" altLang="en-US" sz="2400" b="0" dirty="0"/>
              <a:t>상공 </a:t>
            </a:r>
            <a:r>
              <a:rPr lang="en-US" altLang="ko-KR" sz="2400" b="0" dirty="0"/>
              <a:t>1m 5</a:t>
            </a:r>
            <a:r>
              <a:rPr lang="ko-KR" altLang="en-US" sz="2400" b="0" dirty="0"/>
              <a:t>도 아래방향</a:t>
            </a:r>
            <a:r>
              <a:rPr lang="en-US" altLang="ko-KR" sz="2400" b="0" dirty="0"/>
              <a:t>)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ko-KR" sz="2400" b="0" dirty="0"/>
              <a:t>Dataset : US-GS dataset(synthetic)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US" altLang="ko-KR" sz="24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611A0-C7C9-1940-2BA2-C1D8EDD9E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28" y="3328974"/>
            <a:ext cx="11277600" cy="318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3745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Discussion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0" dirty="0"/>
              <a:t>우리 모델은 dataset의 aerial view와 street view를 어떤 식으로 사용하고 있는가?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0" dirty="0"/>
              <a:t>최종 mesh 출력물을 GS splat 계열과 PSNR / SSIM / LPIPS로 비교할 경우,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Horizon-GS의 view-shift 프로토콜(Held-out / +1m / +1m 5° down)을 그대로 차용 가능</a:t>
            </a:r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65915CE-07F4-56F3-B2E0-8AE56669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846ADA0F-59BA-8350-9E7D-216F849BCC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6054"/>
            <a:ext cx="121920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altLang="ko-KR" sz="4800" dirty="0" err="1"/>
              <a:t>CityGaussianV2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40934507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Task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600" b="0" dirty="0"/>
              <a:t>City scale</a:t>
            </a:r>
            <a:r>
              <a:rPr lang="ko-KR" altLang="en-US" sz="2600" b="0" dirty="0"/>
              <a:t> scene의 surface / mesh 복원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ICLR 2025 / Code availability : O / Primitive는 2DGS 사용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R" sz="12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0" dirty="0"/>
              <a:t>기존 </a:t>
            </a:r>
            <a:r>
              <a:rPr lang="en-US" altLang="ko-KR" sz="2400" b="0" dirty="0"/>
              <a:t>surface recon </a:t>
            </a:r>
            <a:r>
              <a:rPr lang="ko-KR" altLang="en-US" sz="2400" b="0" dirty="0"/>
              <a:t>연구</a:t>
            </a:r>
            <a:endParaRPr lang="en-US" altLang="ko-KR" sz="2400" b="0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ko-KR" sz="2000" dirty="0" err="1"/>
              <a:t>CityGS</a:t>
            </a:r>
            <a:endParaRPr lang="en-US" altLang="ko-KR" sz="2000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US" altLang="ko-KR" sz="12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1" dirty="0"/>
              <a:t>기존 연구의 한계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P1. 기존 surface-recon GS는 대규모 재구성에서 품질이 깨짐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P2. 규모를 키우려면 병렬 학습이 필요 → 저장공간 &amp; 시간 폭발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P3. 경계 영역은 관측이 부족해 geometry 평가가 불안정</a:t>
            </a:r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4882"/>
            <a:ext cx="10972801" cy="2200000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1" dirty="0"/>
              <a:t>위 한계의 원인을 네 가지로 분해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P1. 병렬 학습 시 저장공간 &amp; 시간 폭발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P2. 길쭉한(</a:t>
            </a:r>
            <a:r>
              <a:rPr lang="ko-KR" altLang="en-US" sz="2000" b="0" dirty="0" err="1"/>
              <a:t>elongated</a:t>
            </a:r>
            <a:r>
              <a:rPr lang="ko-KR" altLang="en-US" sz="2000" b="0" dirty="0"/>
              <a:t>) Gaussian → Gaussian count explosion → OOM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P3. Blur한 Gaussian → Underfitting, 느린 수렴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P4. 텍스처가 없는 영역에 Gaussian을 부정확하게 배치</a:t>
            </a:r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Method (1) : Parallel training pipeline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4882"/>
            <a:ext cx="10972801" cy="2850000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CityGaussian : coarse 전체 학습 → non-overlap block 분할 → parallel tuning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→ pruning 30k iter + distillation 10k iter → vectree quantization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CityGaussianV2의 변경점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post-pruning / distillation 단계를 제거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SH degree 2를 처음부터 사용 (3→2 distillation 불필요)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contribution 기반 pruning을 per-block fine-tuning 안으로 통합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결과 : 최대 10× 압축, 학습 시간 25% 이상 절감, 메모리 50% 감소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143D2D-F824-B237-F95E-A66E82252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21536"/>
            <a:ext cx="10602684" cy="186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Method (2) : Elongation Filter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4882"/>
            <a:ext cx="10972801" cy="3200000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원인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멀리서 투영된 2D Gaussian은 1픽셀 미만으로 붕괴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Low-pass filter가 covariance를 고정값으로 대체 → scaling / rotation gradient 무효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높은 opacity + 미세 이동 = 큰 픽셀 변화 = 큰 position gradient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Block 병렬 학습은 뷰 수가 적어 이 gradient가 급격히 누적 → count 폭발 → OOM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해결 : densification 직전에 elongation rate를 판정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η = min(s_u, s_v) / max(s_u, s_v) — η가 threshold 미만이면 clone / split 에서 제외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4F7A14-FABF-FBB9-4EE6-B0BD49A29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759" y="3830864"/>
            <a:ext cx="4574506" cy="302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Method (3) : Densification (DGD)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4882"/>
            <a:ext cx="10972801" cy="2650000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L1 RGB loss는 blur에 둔감하고 구조 보존을 우선하지 않음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2DGS는 초기 학습 단계에서 3DGS보다 blur에 취약함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따라서 densification 판정 gradient를 SSIM loss 기준으로 재정의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∇densify = max( ω · |∇L|avg / |∇L_SSIM|avg , 1 ) × ∇L_SSIM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효과 : 크고 흐릿한 Gaussian이 제거되고 수렴이 빨라짐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0D3535-99D8-F0A5-39AD-B9217B21C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230836"/>
            <a:ext cx="11417603" cy="27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Method (4) : Depth Supervision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Depth-Anything-V2로 inverse depth를 예측하고 dataset scale에 정렬 (Dₖ)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L_Depth = | D̂ₖ − Dₖ |  — rendered inverse depth vs pseudo GT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학습이 진행될수록 loss weight α를 exponential하게 감소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부정확한 depth 추정의 악영향을 점진적으로 억제하기 위함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P4(텍스처 없는 영역) 대응 방법이자 수렴 가속 수단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Horizon-GS의 depth supervision과 동일 계열 (둘 다 Kerbl et al. 2024 방식을 따름)</a:t>
            </a:r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Experiment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4882"/>
            <a:ext cx="10972801" cy="3200000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Dataset : GauU-Scene, MatrixCity, Mill19 (Rubble), UrbanScene3D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Metric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Rendering : PSNR / SSIM / LPIPS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Geometry : TnT-style Precision / Recall / F1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Evaluation protocol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visibility 기반 crop volume 추정으로 관측이 부족한 경계 영역을 제외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→ 경계에서 발생하던 metric 요동을 제거 (P3 해결)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D360C7-23EB-B467-CF40-BB78C212D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70" y="4318430"/>
            <a:ext cx="5301473" cy="11354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498932-E264-A679-8FD2-3EF8A641D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4522107"/>
            <a:ext cx="3683000" cy="1079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25713A-9B2B-FD51-895A-5119479FF9EF}"/>
              </a:ext>
            </a:extLst>
          </p:cNvPr>
          <p:cNvSpPr txBox="1"/>
          <p:nvPr/>
        </p:nvSpPr>
        <p:spPr>
          <a:xfrm>
            <a:off x="2286000" y="5584564"/>
            <a:ext cx="745671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1900" dirty="0"/>
              <a:t>모든 </a:t>
            </a:r>
            <a:r>
              <a:rPr lang="en-US" altLang="ko-Kore-KR" sz="1900" dirty="0"/>
              <a:t>View</a:t>
            </a:r>
            <a:r>
              <a:rPr lang="ko-Kore-KR" altLang="en-US" sz="1900" dirty="0"/>
              <a:t>에 얼마나 기여했는가 </a:t>
            </a:r>
            <a:r>
              <a:rPr lang="en-US" altLang="ko-Kore-KR" sz="1900" dirty="0"/>
              <a:t>(Cn)</a:t>
            </a:r>
            <a:r>
              <a:rPr lang="ko-Kore-KR" altLang="en-US" sz="1900" dirty="0"/>
              <a:t>을 기준으로 </a:t>
            </a:r>
            <a:r>
              <a:rPr lang="en-US" altLang="ko-Kore-KR" sz="1900" dirty="0"/>
              <a:t>Cropping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D314B-EB7F-DF61-2767-7866408F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FA30C6-4718-727E-568B-0053111061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C071C4-4F42-4E57-A22D-0F921599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Experiment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7114F62-8C35-03A6-7DDC-7D994AC37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62" y="2383972"/>
            <a:ext cx="10097275" cy="2743002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F1F7F7-2338-546A-3212-C5409E5E8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4882"/>
            <a:ext cx="10972801" cy="3200000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200" b="0" dirty="0" err="1"/>
              <a:t>CityGS</a:t>
            </a:r>
            <a:r>
              <a:rPr lang="ko-KR" altLang="en-US" sz="2200" b="0" dirty="0" err="1"/>
              <a:t>를</a:t>
            </a:r>
            <a:r>
              <a:rPr lang="ko-KR" altLang="en-US" sz="2200" b="0" dirty="0"/>
              <a:t> 제외한 나머지는 </a:t>
            </a:r>
            <a:r>
              <a:rPr lang="en-US" altLang="ko-KR" sz="2200" b="0" dirty="0"/>
              <a:t>City-scale purpose</a:t>
            </a:r>
            <a:r>
              <a:rPr lang="ko-KR" altLang="en-US" sz="2200" b="0" dirty="0"/>
              <a:t>가 아님</a:t>
            </a:r>
            <a:endParaRPr lang="en-US" altLang="ko-KR" sz="22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200" b="0" dirty="0"/>
              <a:t>PSNR</a:t>
            </a:r>
            <a:r>
              <a:rPr lang="ko-KR" altLang="en-US" sz="2200" b="0" dirty="0"/>
              <a:t>에서 </a:t>
            </a:r>
            <a:r>
              <a:rPr lang="en-US" altLang="ko-KR" sz="2200" b="0" dirty="0" err="1"/>
              <a:t>CityGS</a:t>
            </a:r>
            <a:r>
              <a:rPr lang="ko-KR" altLang="en-US" sz="2200" b="0" dirty="0"/>
              <a:t>가 잘 나왔는데</a:t>
            </a:r>
            <a:r>
              <a:rPr lang="en-US" altLang="ko-KR" sz="2200" b="0" dirty="0"/>
              <a:t>, </a:t>
            </a:r>
            <a:r>
              <a:rPr lang="ko-KR" altLang="en-US" sz="2200" b="0" dirty="0"/>
              <a:t>이는 </a:t>
            </a:r>
            <a:r>
              <a:rPr lang="en-US" altLang="ko-KR" sz="2200" b="0" dirty="0" err="1"/>
              <a:t>CityGS</a:t>
            </a:r>
            <a:r>
              <a:rPr lang="ko-KR" altLang="en-US" sz="2200" b="0" dirty="0"/>
              <a:t>는 </a:t>
            </a:r>
            <a:r>
              <a:rPr lang="en-US" altLang="ko-KR" sz="2200" b="0" dirty="0"/>
              <a:t>3DGS, Ours</a:t>
            </a:r>
            <a:r>
              <a:rPr lang="ko-KR" altLang="en-US" sz="2200" b="0" dirty="0"/>
              <a:t>는 </a:t>
            </a:r>
            <a:r>
              <a:rPr lang="en-US" altLang="ko-KR" sz="2200" b="0" dirty="0"/>
              <a:t>2DGS</a:t>
            </a:r>
            <a:r>
              <a:rPr lang="ko-KR" altLang="en-US" sz="2200" b="0" dirty="0"/>
              <a:t>이기 때문으로 판단됨</a:t>
            </a:r>
            <a:endParaRPr lang="ko-KR" altLang="en-US" sz="1900" b="0" dirty="0"/>
          </a:p>
        </p:txBody>
      </p:sp>
    </p:spTree>
    <p:extLst>
      <p:ext uri="{BB962C8B-B14F-4D97-AF65-F5344CB8AC3E}">
        <p14:creationId xmlns:p14="http://schemas.microsoft.com/office/powerpoint/2010/main" val="352414749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63A6-4C78-CA40-FED1-EF445B8E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12A6D2-1CD2-C37E-FCF5-5943DFE031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B548F2-D899-DF11-A3E6-4DFFFFCA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Experiment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6F4F9B6-21F2-F3F6-4B97-9416307BA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4882"/>
            <a:ext cx="10972801" cy="3200000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200" b="0" dirty="0"/>
              <a:t>Memory &amp; time efficiency</a:t>
            </a:r>
            <a:r>
              <a:rPr lang="ko-KR" altLang="en-US" sz="2200" b="0" dirty="0"/>
              <a:t>는 가장 양호</a:t>
            </a:r>
            <a:endParaRPr lang="ko-KR" altLang="en-US" sz="1900" b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0BED88-9CF3-18AB-DE5F-2B290D5E0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658" y="1888016"/>
            <a:ext cx="9902684" cy="449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6622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Discussion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/>
              <a:t>Pruning이 chunk별 학습 후 concat 후처리라는 점에서 우리 mesh chunk concat 이후 과정과 연관 가능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단, GS와 mesh는 본질적으로 다른 문제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R" sz="2200" b="1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 err="1"/>
              <a:t>Idea</a:t>
            </a:r>
            <a:r>
              <a:rPr lang="ko-KR" altLang="en-US" sz="2200" b="1" dirty="0"/>
              <a:t> : concat 시점을 앞당기기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현재 : stage 1, 2, 3을 모두 수행한 뒤 concat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900" b="0" dirty="0"/>
              <a:t>제안 : stage 1의 chunk별 point cloud에서 overlap 영역을 pruning → stage 2, 3 진행</a:t>
            </a:r>
          </a:p>
          <a:p>
            <a:pPr marL="1600200" lvl="2" indent="-457200">
              <a:buFont typeface="Arial" panose="020B0604020202020204" pitchFamily="34" charset="0"/>
              <a:buChar char="•"/>
            </a:pPr>
            <a:r>
              <a:rPr lang="ko-KR" altLang="en-US" sz="1700" b="0" dirty="0"/>
              <a:t>경계가 더 매끄러워질 것으로 기대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ko-KR" sz="22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0" dirty="0" err="1"/>
              <a:t>Visibility</a:t>
            </a:r>
            <a:r>
              <a:rPr lang="ko-KR" altLang="en-US" sz="2200" b="0" dirty="0"/>
              <a:t> 기반 crop volume 평가 방식은 우리 mesh 평가에도 적용 가능해 보임</a:t>
            </a:r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65915CE-07F4-56F3-B2E0-8AE56669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846ADA0F-59BA-8350-9E7D-216F849BCC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6054"/>
            <a:ext cx="121920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altLang="ko-KR" sz="4800" dirty="0" err="1"/>
              <a:t>Baseline search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40934507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Search criteria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1" dirty="0"/>
              <a:t>두 계열을 대상으로 조사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A. Multi-view → object / scene mesh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B. Multi-view image → 3DGS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1" dirty="0"/>
              <a:t>조사 기준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렌더링 후 PSNR / SSIM / LPIPS 평가를 했는가, 가능한가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Geometry 평가(Chamfer, F-score)를 했는가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2000" b="0" dirty="0"/>
              <a:t>Tag : 출력물(Mesh / texture / 3DGS) · Code 유무 · feed-forward vs per-scene optim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400" b="1" dirty="0"/>
              <a:t>현황 : 샘플링은 마쳤고, 개별 검증은 진행 예정</a:t>
            </a:r>
          </a:p>
        </p:txBody>
      </p:sp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A. MV → Mesh : Per-scene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143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논문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학회·연도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핵심 표현·기법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출력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렌더링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기하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주요 데이터셋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NeuS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NeurIPS 2021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SDF + volume rendering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DTU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Neuralangelo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Hash grid SDF + numerical gradient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DTU, TnT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SuGaR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+ mesh binding, Poisson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+ 3DGS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DTU, Mip-NeRF360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2DGS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SIGGRAPH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Surfel(2D Gaussian) + normal consistency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(TSDF)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DTU, TnT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GOF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Opacity field, ray tracing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(March. Tet.)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TnT, Mip-NeRF360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RaDe-GS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Ray-Gaussian intersection depth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(TSDF)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DTU, TnT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CityGaussianV2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ICLR 2025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2DGS + 병렬학습 + 기여도 트리밍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+ 압축 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TnT-style P/R/F1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GauU-Scene, MatrixCity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A. MV → Mesh : Feed-forward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143000"/>
          <a:ext cx="109728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논문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학회·연도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핵심 표현·기법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출력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렌더링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기하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주요 데이터셋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LRM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ICLR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Triplane NeRF + Transformer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NeRF (→mesh)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Objaverse, MVImgNet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비공식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InstantMesh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LRM + FlexiCubes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+ texture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 CLIP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F-score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GSO, OmniObject3D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MeshLRM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LRM + 미분가능 표면추출(DiffMC)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부분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MeshFormer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NeurIPS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 voxel + 3D conv + Transformer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(SDF)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F-score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GSO, OmniObject3D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Unique3D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NeurIPS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MV RGB+normal → ISOMER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+ texture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PSNR, CLIP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CRM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ECCV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Conv Reconstruction + CCM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F-score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TripoSR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Triplane (LRM 개선)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F-score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GSO, OmniObject3D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Hunyuan3D 2.x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2025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Latent shape diffusion + PBR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+ PBR texture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ULIP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자체 benchmark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B. MV → 3DGS : Per-scene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143000"/>
          <a:ext cx="109728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논문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학회·연도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핵심 표현·기법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출력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렌더링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기하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주요 데이터셋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SIGGRAPH 2023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Anisotropic 3D Gaussian + 타일 래스터화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LPIPS, FPS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Mip-NeRF360, TnT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Mip-Splatting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 smoothing + 2D Mip filter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Mip-NeRF360, Blender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Scaffold-GS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Anchor + MLP 속성 디코딩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Neural 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LPIPS, 저장량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Mip-NeRF360, BungeeNeRF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Octree-GS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LOD octree anchor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(LOD)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LPIPS, FPS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Mip-NeRF360, MatrixCity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VastGaussian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점진적 분할 + decoupled appearance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Mill19, UrbanScene3D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CityGaussian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ECCV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블록 병렬 + 가지치기·증류 + LOD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압축 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LPIPS, FPS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MatrixCity, Mill19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Hierarchical-3DGS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SIGGRAPH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LOD 계층 구조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(hierarchy)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LPIPS, FPS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자체 대규모 캡처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Horizon-GS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Coarse-to-fine 2단계 + 카메라 균형 + LOD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/ 2DGS 선택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 (외삽뷰)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mesh 정성 비교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MatrixCity, UC-GS, 자체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B. MV → 3DGS : Feed-forward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143000"/>
          <a:ext cx="109728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논문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학회·연도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핵심 표현·기법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출력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렌더링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기하 이벨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주요 데이터셋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Splatter Image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U-Net, 픽셀당 Gaussian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ShapeNet, CO3D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pixelSplat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Epipolar + depth 확률분포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(픽셀당 3개)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RealEstate10K, ACID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MVSplat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ECCV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Cost volume (plane sweep)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(픽셀당 1개)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depth 정성 비교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RealEstate10K, ACID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GS-LRM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ECCV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Transformer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Objaverse, RealEstate10K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확인 필요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LGM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ECCV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비대칭 U-Net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→ 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GRM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ECCV 2024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Transformer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 → Mesh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GSO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NoPoSplat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ICLR 2025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Canonical space 직접 예측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3DGS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PSNR SSIM LPIPS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pose 정확도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RealEstate10K, ACID, DTU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Calibri"/>
                        </a:rPr>
                        <a:t>VGGT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CVPR 2025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Geometry foundation model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Depth/Point/Pose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Chamfer, pose AUC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Co3D, DTU 등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Calibri"/>
                        </a:rPr>
                        <a:t>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65915CE-07F4-56F3-B2E0-8AE56669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846ADA0F-59BA-8350-9E7D-216F849BCC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6054"/>
            <a:ext cx="121920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altLang="ko-KR" sz="4800" dirty="0"/>
              <a:t>Ideation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40934507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4D5C7-6563-469F-B31D-1394E8189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36F3C-AFDB-86E4-D5CD-A3A78569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Ideation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D9CEB-74A8-C717-6281-570C5A22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56697"/>
            <a:ext cx="10972801" cy="5556383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b="1" dirty="0"/>
              <a:t>SCube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800" b="0" dirty="0"/>
              <a:t>Depth를 고려한 conditioning 방식을 stage 1 semantic conditioning에 적용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800" b="0" dirty="0"/>
              <a:t>Refinement network를 latent가 아닌 실제 구조(G, A) 단에 적용 → </a:t>
            </a:r>
            <a:r>
              <a:rPr lang="ko-KR" altLang="en-US" sz="1800" b="0" dirty="0" err="1"/>
              <a:t>occlusion</a:t>
            </a:r>
            <a:r>
              <a:rPr lang="ko-KR" altLang="en-US" sz="1800" b="0" dirty="0"/>
              <a:t> 해결</a:t>
            </a:r>
            <a:endParaRPr lang="en-US" altLang="ko-KR" sz="1800" b="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ko-KR" sz="2200" b="0" dirty="0" err="1"/>
              <a:t>Scube</a:t>
            </a:r>
            <a:r>
              <a:rPr lang="en-US" altLang="ko-KR" sz="2200" b="0" dirty="0"/>
              <a:t> conditioning</a:t>
            </a:r>
            <a:r>
              <a:rPr lang="ko-KR" altLang="en-US" sz="2200" b="0" dirty="0"/>
              <a:t>의 한계는</a:t>
            </a:r>
            <a:r>
              <a:rPr lang="en-US" altLang="ko-KR" sz="2200" b="0" dirty="0"/>
              <a:t>, </a:t>
            </a:r>
            <a:r>
              <a:rPr lang="ko-KR" altLang="en-US" sz="2200" b="0" dirty="0"/>
              <a:t>하나의 </a:t>
            </a:r>
            <a:r>
              <a:rPr lang="en-US" altLang="ko-KR" sz="2200" b="0" dirty="0"/>
              <a:t>image</a:t>
            </a:r>
            <a:r>
              <a:rPr lang="ko-KR" altLang="en-US" sz="2200" b="0" dirty="0"/>
              <a:t>에서 </a:t>
            </a:r>
            <a:r>
              <a:rPr lang="en-US" altLang="ko-KR" sz="2200" b="0" dirty="0"/>
              <a:t>feature (per pixel)</a:t>
            </a:r>
            <a:r>
              <a:rPr lang="ko-KR" altLang="en-US" sz="2200" b="0" dirty="0"/>
              <a:t>의 </a:t>
            </a:r>
            <a:r>
              <a:rPr lang="en-US" altLang="ko-KR" sz="2200" b="0" dirty="0"/>
              <a:t>depth </a:t>
            </a:r>
            <a:r>
              <a:rPr lang="ko-KR" altLang="en-US" sz="2200" b="0" dirty="0"/>
              <a:t>정보를 추론해야 한다는 것</a:t>
            </a:r>
            <a:r>
              <a:rPr lang="en-US" altLang="ko-KR" sz="2200" b="0" dirty="0"/>
              <a:t>.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800" dirty="0"/>
              <a:t>이 문제를 해결하기 위해 </a:t>
            </a:r>
            <a:r>
              <a:rPr lang="en-US" altLang="ko-KR" sz="1800" dirty="0"/>
              <a:t>DINO feature </a:t>
            </a:r>
            <a:r>
              <a:rPr lang="ko-KR" altLang="en-US" sz="1800" dirty="0"/>
              <a:t>대신 </a:t>
            </a:r>
            <a:r>
              <a:rPr lang="en-US" altLang="ko-KR" sz="1800" dirty="0"/>
              <a:t>VGGT feature</a:t>
            </a:r>
            <a:r>
              <a:rPr lang="ko-KR" altLang="en-US" sz="1800" dirty="0"/>
              <a:t>을 사용할 것을 제안</a:t>
            </a:r>
            <a:endParaRPr lang="en-US" altLang="ko-KR" sz="1800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ko-KR" sz="1800" dirty="0"/>
              <a:t>VGGT</a:t>
            </a:r>
            <a:r>
              <a:rPr lang="ko-KR" altLang="en-US" sz="1800" dirty="0"/>
              <a:t>는 </a:t>
            </a:r>
            <a:r>
              <a:rPr lang="en-US" altLang="ko-KR" sz="1800" dirty="0"/>
              <a:t>depth downstream</a:t>
            </a:r>
            <a:r>
              <a:rPr lang="ko-KR" altLang="en-US" sz="1800" dirty="0"/>
              <a:t>에서 좋은 성능을 보였음</a:t>
            </a:r>
            <a:endParaRPr lang="en-US" altLang="ko-KR" sz="1800" dirty="0"/>
          </a:p>
          <a:p>
            <a:pPr marL="1600200" lvl="2" indent="-457200">
              <a:buFont typeface="Arial" panose="020B0604020202020204" pitchFamily="34" charset="0"/>
              <a:buChar char="•"/>
            </a:pPr>
            <a:r>
              <a:rPr lang="ko-KR" altLang="en-US" sz="1400" dirty="0"/>
              <a:t>단</a:t>
            </a:r>
            <a:r>
              <a:rPr lang="en-US" altLang="ko-KR" sz="1400" dirty="0"/>
              <a:t>, </a:t>
            </a:r>
            <a:r>
              <a:rPr lang="ko-KR" altLang="en-US" sz="1400" dirty="0"/>
              <a:t>최종 출력 </a:t>
            </a:r>
            <a:r>
              <a:rPr lang="en-US" altLang="ko-KR" sz="1400" dirty="0"/>
              <a:t>feature</a:t>
            </a:r>
            <a:r>
              <a:rPr lang="ko-KR" altLang="en-US" sz="1400" dirty="0"/>
              <a:t>이 아니라 중간 </a:t>
            </a:r>
            <a:r>
              <a:rPr lang="en-US" altLang="ko-KR" sz="1400" dirty="0"/>
              <a:t>Layer</a:t>
            </a:r>
            <a:r>
              <a:rPr lang="ko-KR" altLang="en-US" sz="1400" dirty="0"/>
              <a:t>들의 </a:t>
            </a:r>
            <a:r>
              <a:rPr lang="en-US" altLang="ko-KR" sz="1400" dirty="0"/>
              <a:t>feature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concat</a:t>
            </a:r>
            <a:r>
              <a:rPr lang="ko-KR" altLang="en-US" sz="1400" dirty="0"/>
              <a:t>해 사용</a:t>
            </a:r>
            <a:endParaRPr lang="en-US" altLang="ko-KR" sz="1400" dirty="0"/>
          </a:p>
          <a:p>
            <a:pPr marL="685800" lvl="1" indent="0">
              <a:buNone/>
            </a:pPr>
            <a:endParaRPr lang="en-US" altLang="ko-KR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ACCF11-9803-4C31-9EBE-40CE49F1D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366" y="3089832"/>
            <a:ext cx="5038634" cy="350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647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1FAD8-BDC6-66DE-7369-3D9FC696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D1AC7C-E57B-4ECF-E411-550DD35F58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6D5C01-DFE9-BF87-30FC-F6CA8507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Ideation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49B61-6C6F-AC7A-A746-CF95AF225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dirty="0" err="1"/>
              <a:t>Horizon</a:t>
            </a:r>
            <a:r>
              <a:rPr lang="ko-KR" altLang="en-US" sz="2200" dirty="0"/>
              <a:t>-GS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800" dirty="0"/>
              <a:t>우리는 3D BCE 기반이라 </a:t>
            </a:r>
            <a:r>
              <a:rPr lang="ko-KR" altLang="en-US" sz="1800" dirty="0" err="1"/>
              <a:t>densification</a:t>
            </a:r>
            <a:r>
              <a:rPr lang="ko-KR" altLang="en-US" sz="1800" dirty="0"/>
              <a:t> </a:t>
            </a:r>
            <a:r>
              <a:rPr lang="ko-KR" altLang="en-US" sz="1800" dirty="0" err="1"/>
              <a:t>gradient</a:t>
            </a:r>
            <a:r>
              <a:rPr lang="ko-KR" altLang="en-US" sz="1800" dirty="0"/>
              <a:t> </a:t>
            </a:r>
            <a:r>
              <a:rPr lang="ko-KR" altLang="en-US" sz="1800" dirty="0" err="1"/>
              <a:t>conflict는</a:t>
            </a:r>
            <a:r>
              <a:rPr lang="ko-KR" altLang="en-US" sz="1800" dirty="0"/>
              <a:t> 발생하지 않을 것으로 예상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800" dirty="0" err="1"/>
              <a:t>View-shift</a:t>
            </a:r>
            <a:r>
              <a:rPr lang="ko-KR" altLang="en-US" sz="1800" dirty="0"/>
              <a:t> 평가 프로토콜(</a:t>
            </a:r>
            <a:r>
              <a:rPr lang="ko-KR" altLang="en-US" sz="1800" dirty="0" err="1"/>
              <a:t>Held-out</a:t>
            </a:r>
            <a:r>
              <a:rPr lang="ko-KR" altLang="en-US" sz="1800" dirty="0"/>
              <a:t> / +1m / +1m 5° </a:t>
            </a:r>
            <a:r>
              <a:rPr lang="ko-KR" altLang="en-US" sz="1800" dirty="0" err="1"/>
              <a:t>down</a:t>
            </a:r>
            <a:r>
              <a:rPr lang="ko-KR" altLang="en-US" sz="1800" dirty="0"/>
              <a:t>) 차용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ko-KR" altLang="en-US" sz="2200" dirty="0"/>
              <a:t>CityGaussianV2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800" dirty="0" err="1"/>
              <a:t>Stage</a:t>
            </a:r>
            <a:r>
              <a:rPr lang="ko-KR" altLang="en-US" sz="1800" dirty="0"/>
              <a:t> 1 </a:t>
            </a:r>
            <a:r>
              <a:rPr lang="ko-KR" altLang="en-US" sz="1800" dirty="0" err="1"/>
              <a:t>chunk</a:t>
            </a:r>
            <a:r>
              <a:rPr lang="ko-KR" altLang="en-US" sz="1800" dirty="0"/>
              <a:t> </a:t>
            </a:r>
            <a:r>
              <a:rPr lang="ko-KR" altLang="en-US" sz="1800" dirty="0" err="1"/>
              <a:t>point</a:t>
            </a:r>
            <a:r>
              <a:rPr lang="ko-KR" altLang="en-US" sz="1800" dirty="0"/>
              <a:t> </a:t>
            </a:r>
            <a:r>
              <a:rPr lang="ko-KR" altLang="en-US" sz="1800" dirty="0" err="1"/>
              <a:t>cloud의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overlap</a:t>
            </a:r>
            <a:r>
              <a:rPr lang="ko-KR" altLang="en-US" sz="1800" dirty="0"/>
              <a:t> </a:t>
            </a:r>
            <a:r>
              <a:rPr lang="ko-KR" altLang="en-US" sz="1800" dirty="0" err="1"/>
              <a:t>pruning</a:t>
            </a:r>
            <a:r>
              <a:rPr lang="ko-KR" altLang="en-US" sz="1800" dirty="0"/>
              <a:t> 후 </a:t>
            </a:r>
            <a:r>
              <a:rPr lang="ko-KR" altLang="en-US" sz="1800" dirty="0" err="1"/>
              <a:t>stage</a:t>
            </a:r>
            <a:r>
              <a:rPr lang="ko-KR" altLang="en-US" sz="1800" dirty="0"/>
              <a:t> 2, 3 진행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ko-KR" altLang="en-US" sz="1800" dirty="0" err="1"/>
              <a:t>Visibility</a:t>
            </a:r>
            <a:r>
              <a:rPr lang="ko-KR" altLang="en-US" sz="1800" dirty="0"/>
              <a:t> 기반 </a:t>
            </a:r>
            <a:r>
              <a:rPr lang="ko-KR" altLang="en-US" sz="1800" dirty="0" err="1"/>
              <a:t>crop</a:t>
            </a:r>
            <a:r>
              <a:rPr lang="ko-KR" altLang="en-US" sz="1800" dirty="0"/>
              <a:t> </a:t>
            </a:r>
            <a:r>
              <a:rPr lang="ko-KR" altLang="en-US" sz="1800" dirty="0" err="1"/>
              <a:t>volume로</a:t>
            </a:r>
            <a:r>
              <a:rPr lang="ko-KR" altLang="en-US" sz="1800" dirty="0"/>
              <a:t> 경계 영역을 제외한 평가</a:t>
            </a:r>
          </a:p>
          <a:p>
            <a:pPr marL="228600" indent="0"/>
            <a:r>
              <a:rPr lang="en-US" altLang="ko-KR" sz="2200" dirty="0"/>
              <a:t> </a:t>
            </a:r>
            <a:endParaRPr lang="ko-KR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1128324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040TGp_time_mono 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2209</Words>
  <Application>Microsoft Macintosh PowerPoint</Application>
  <PresentationFormat>와이드스크린</PresentationFormat>
  <Paragraphs>508</Paragraphs>
  <Slides>38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Gulim</vt:lpstr>
      <vt:lpstr>Malgun Gothic</vt:lpstr>
      <vt:lpstr>Noto Sans Symbols</vt:lpstr>
      <vt:lpstr>Arial</vt:lpstr>
      <vt:lpstr>Calibri</vt:lpstr>
      <vt:lpstr>Comic Sans MS</vt:lpstr>
      <vt:lpstr>Verdana</vt:lpstr>
      <vt:lpstr>040TGp_time_mono </vt:lpstr>
      <vt:lpstr>City Mesh meeting 9/1</vt:lpstr>
      <vt:lpstr>Topic</vt:lpstr>
      <vt:lpstr>SCube</vt:lpstr>
      <vt:lpstr>Task</vt:lpstr>
      <vt:lpstr>Relwork : Xcube</vt:lpstr>
      <vt:lpstr>Method</vt:lpstr>
      <vt:lpstr>Method</vt:lpstr>
      <vt:lpstr>Method : Refinement network</vt:lpstr>
      <vt:lpstr>Experiment</vt:lpstr>
      <vt:lpstr>Experiment</vt:lpstr>
      <vt:lpstr>Horizon GS</vt:lpstr>
      <vt:lpstr>Motivation</vt:lpstr>
      <vt:lpstr>Method</vt:lpstr>
      <vt:lpstr>Method  : Depth Supervision</vt:lpstr>
      <vt:lpstr>Experiment</vt:lpstr>
      <vt:lpstr>Experiment</vt:lpstr>
      <vt:lpstr>Experiment</vt:lpstr>
      <vt:lpstr>Discussion</vt:lpstr>
      <vt:lpstr>CityGaussianV2</vt:lpstr>
      <vt:lpstr>Task</vt:lpstr>
      <vt:lpstr>Problem statement</vt:lpstr>
      <vt:lpstr>Method (1) : Parallel training pipeline</vt:lpstr>
      <vt:lpstr>Method (2) : Elongation Filter</vt:lpstr>
      <vt:lpstr>Method (3) : Densification (DGD)</vt:lpstr>
      <vt:lpstr>Method (4) : Depth Supervision</vt:lpstr>
      <vt:lpstr>Experiment</vt:lpstr>
      <vt:lpstr>Experiment</vt:lpstr>
      <vt:lpstr>Experiment</vt:lpstr>
      <vt:lpstr>Discussion</vt:lpstr>
      <vt:lpstr>Baseline search</vt:lpstr>
      <vt:lpstr>Search criteria</vt:lpstr>
      <vt:lpstr>A. MV → Mesh : Per-scene</vt:lpstr>
      <vt:lpstr>A. MV → Mesh : Feed-forward</vt:lpstr>
      <vt:lpstr>B. MV → 3DGS : Per-scene</vt:lpstr>
      <vt:lpstr>B. MV → 3DGS : Feed-forward</vt:lpstr>
      <vt:lpstr>Ideation</vt:lpstr>
      <vt:lpstr>Ideation</vt:lpstr>
      <vt:lpstr>Ideation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정다현</dc:creator>
  <cp:lastModifiedBy>손주호</cp:lastModifiedBy>
  <cp:revision>89</cp:revision>
  <dcterms:modified xsi:type="dcterms:W3CDTF">2026-09-01T03:43:00Z</dcterms:modified>
</cp:coreProperties>
</file>