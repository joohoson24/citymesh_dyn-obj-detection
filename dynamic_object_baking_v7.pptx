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40"/>
  </p:notesMasterIdLst>
  <p:sldIdLst>
    <p:sldId id="256" r:id="rId7"/>
    <p:sldId id="300" r:id="rId34"/>
    <p:sldId id="257" r:id="rId8"/>
    <p:sldId id="267" r:id="rId18"/>
    <p:sldId id="279" r:id="rId30"/>
    <p:sldId id="268" r:id="rId19"/>
    <p:sldId id="258" r:id="rId9"/>
    <p:sldId id="269" r:id="rId20"/>
    <p:sldId id="280" r:id="rId14"/>
    <p:sldId id="281" r:id="rId15"/>
    <p:sldId id="282" r:id="rId16"/>
    <p:sldId id="283" r:id="rId17"/>
    <p:sldId id="284" r:id="rId13"/>
    <p:sldId id="285" r:id="rId12"/>
    <p:sldId id="286" r:id="rId11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10"/>
    <p:sldId id="297" r:id="rId31"/>
    <p:sldId id="298" r:id="rId32"/>
    <p:sldId id="299" r:id="rId33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85BD"/>
    <a:srgbClr val="254B95"/>
    <a:srgbClr val="489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3"/>
    <p:restoredTop sz="96376"/>
  </p:normalViewPr>
  <p:slideViewPr>
    <p:cSldViewPr snapToGrid="0">
      <p:cViewPr varScale="1">
        <p:scale>
          <a:sx n="119" d="100"/>
          <a:sy n="119" d="100"/>
        </p:scale>
        <p:origin x="23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6.xml"/><Relationship Id="rId10" Type="http://schemas.openxmlformats.org/officeDocument/2006/relationships/slide" Target="slides/slide24.xml"/><Relationship Id="rId11" Type="http://schemas.openxmlformats.org/officeDocument/2006/relationships/slide" Target="slides/slide14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4.xml"/><Relationship Id="rId31" Type="http://schemas.openxmlformats.org/officeDocument/2006/relationships/slide" Target="slides/slide25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600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LaTeX source (loss):</a:t>
            </a:r>
          </a:p>
          <a:p>
            <a:r>
              <a:t>\documentclass[border=3pt]{standalone}\usepackage{amsmath,amssymb}\begin{document}$\displaystyle \mathcal{L}_{\mathrm{data}}=\frac{\sum_{i,r}V_i(r)S_i(r)\,e_i(r)}{\max(1,\sum_{i,r}V_i(r))},\qquad e_i(r)=\frac{1}{3}\left\|I_{\mathrm{ref},i}(r)-I_{\mathrm{pred},i}(r)\right\|_2^2$\end{document}</a:t>
            </a:r>
          </a:p>
          <a:p>
            <a:r>
              <a:t>LaTeX source (prediction):</a:t>
            </a:r>
          </a:p>
          <a:p>
            <a:r>
              <a:t>\documentclass[border=3pt]{standalone}\usepackage{amsmath,amssymb}\begin{document}$\displaystyle I_{\mathrm{pred},i}(r)=A_i T_\theta(\phi_i(r))+b_i,\qquad T_\theta=U_{512\to1024}(\theta)$\end{document}</a:t>
            </a:r>
          </a:p>
          <a:p>
            <a:r>
              <a:t>Sources: 참조: latex/BASELINE_MATH.md — 공통 모델 | V: 유효 관측, S: 관측 선택, φ: 카메라→UV 대응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참조: latex/BASELINE_MATH.md — 공통 모델 | V: 유효 관측, S: 관측 선택, φ: 카메라→UV 대응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https://arxiv.org/abs/2404.04211</a:t>
            </a:r>
          </a:p>
          <a:p>
            <a:r>
              <a:t>None</a:t>
            </a:r>
          </a:p>
          <a:p>
            <a:r>
              <a:t>새로운 동적 물체 제거 기준선으로 실행하지 않았다. 원 논문의 blur/pose 최적화는 이번 고정 homography 실험 범위와 다르다.</a:t>
            </a:r>
          </a:p>
          <a:p>
            <a:r>
              <a:t>Published figure crop, authors retain copyright; not our pilot result.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uv_fusion; detailed scope and paper sources: dynamic_object_baking_references_v3.md. /mnt/data/baking_revision/assets/fusion_eq.png</a:t>
            </a:r>
          </a:p>
          <a:p>
            <a:r>
              <a:t>Full method scope: 공통 UV에서 차량으로 검출되지 않은 연도만 선택해, texel별 RGB 중앙값으로 직접 합성함. 배경 관측이 소수여도 활용할 수 있음. 모든 연도에 가려진 위치는 최근접 초기화와 조화 보간으로 채움. 최종 출력은 공통 512² 표현을 거쳐 1024²로 만듦. 미관측 위치의 보간값은 실제 배경 관측과 구분해야 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C_t(u)=1-D_t(u),\quad n(u)=\sum_tC_t(u),\quad F_k(u)=\operatorname{median}_{t:C_t(u)=1}J_{t,k}(u)\quad(n&gt;0)$\end{document}</a:t>
            </a:r>
          </a:p>
          <a:p>
            <a:r>
              <a:t>Final output path: /root/sonjooho/baking_pilot/harder_dataset/improved_baselines/scenes/industrial_c/results/textures/uv_fusion.png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geo_mask; detailed scope and paper sources: dynamic_object_baking_references_v3.md. /mnt/data/baking_revision/assets/geo_eq.png</a:t>
            </a:r>
          </a:p>
          <a:p>
            <a:r>
              <a:t>Full method scope: 원본 정사영상에서 검출한 차량 마스크를 공통 UV에 두고, 알려진 homography로 각 카메라에 투영함. 같은 연도의 네 시점이 같은 차량 검출을 공유해 시점별 독립 검출의 차이를 줄임. 공통 평균 초기값과 600회 baking은 유지. 아래 가운데에서 실제 차량 잔상과 지면 질감을 확인함.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S_{t,c}^{\mathrm{geo}}(r)=\mathbf{1}\!\left[D_t\!\left(\phi_c(r)\right)\le0.05\right]$\end{document}</a:t>
            </a:r>
          </a:p>
          <a:p>
            <a:r>
              <a:t>Final output path: /root/sonjooho/baking_pilot/harder_dataset/improved_baselines/scenes/industrial_c/results/textures/geo_mask.png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robust; detailed scope and paper sources: dynamic_object_baking_references_v3.md. /mnt/data/baking_revision/assets/robust_eq.png</a:t>
            </a:r>
          </a:p>
          <a:p>
            <a:r>
              <a:t>Full method scope: 현재 예측과의 잔차가 작은 픽셀을 inlier로 보고, 주변 픽셀과 패치의 일관성으로 S를 갱신함. 차량이 여러 번 반복돼 예측에 흡수되면 잔차가 작아져, 정적 배경처럼 계속 채택될 수 있음. 원 논문 전체 NeRF 대신 동일한 평면 Texture에 robust 선택 규칙을 적용한 결과임.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\begin{gathered}\tau_i=\operatorname{median}_{V_i=1}\varepsilon_i,\quad a_i=V_i\mathbf{1}[\varepsilon_i\le\tau_i],\quad W_i=\mathbf{1}[B_3(a_i)\ge0.5],\\S_i=\operatorname{stopgrad}\!\left(\mathbf{1}\left[B_{16}(W_i)(p_8(r))\ge0.6\right]\right)\end{gathered}$\end{document}</a:t>
            </a:r>
          </a:p>
          <a:p>
            <a:r>
              <a:t>Final output path: /root/sonjooho/baking_pilot/harder_dataset/scenes/industrial_c/results/textures/robust.png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hugs; detailed scope and paper sources: dynamic_object_baking_references_v3.md. /root/sonjooho/baking_pilot/hugs_explanation_v4/hugs_simple.png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S(m)=\mathbf{1}\!\left[\frac{N_{\mathrm{static}}(m)}{N_{\mathrm{all}}(m)}\ge0.5\right]$\end{document}</a:t>
            </a:r>
          </a:p>
          <a:p>
            <a:r>
              <a:t>Final output path: /root/sonjooho/baking_pilot/harder_dataset/scenes/industrial_c/results/textures/hugs.png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block; detailed scope and paper sources: dynamic_object_baking_references_v3.md. /mnt/data/baking_revision/assets/block_eq.png</a:t>
            </a:r>
          </a:p>
          <a:p>
            <a:r>
              <a:t>Full method scope: DOTA YOLO11s-OBB로 입력별 차량 영역을 검출하고, 5×5 팽창한 제외 마스크 D를 생성함. 차량으로 검출한 픽셀을 S=0으로 두고 나머지를 baking. 검출 누락과 차량 OBB 밖의 그림자는 남을 수 있음. 원 논문의 semantic 제외 아이디어를 차용한 평면 baking이며, 아래는 마스크가 아닌 최종 학습 Texture임.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D_i=\operatorname{dilate}_{5\times5}\!\left(\bigcup\nolimits_j\operatorname{OBB}_{ij}\right),\qquad S_i^{\mathrm{Block}}=1-D_i$\end{document}</a:t>
            </a:r>
          </a:p>
          <a:p>
            <a:r>
              <a:t>Final output path: /root/sonjooho/baking_pilot/harder_dataset/scenes/industrial_c/results/textures/block.png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l2; detailed scope and paper sources: dynamic_object_baking_references_v3.md. /mnt/data/baking_revision/assets/baseline_eq.png</a:t>
            </a:r>
          </a:p>
          <a:p>
            <a:r>
              <a:t>Full method scope: 모든 유효 관측을 같은 가중치 S=1로 사용. 단순한 한 texel에서는 관측의 산술평균을 맞추는 방향임. 차량이 여러 연도에 반복되면 차량 색도 Texture에 반영되어 잔상·중첩 흔적이 남을 수 있음. 아래 가운데는 실제 학습한 최종 Texture. 동일 위치의 차량 입력과 2026 빈 배경을 함께 비교함.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S_i(r)=1,\qquad T^*(u)=\frac{1}{N}\sum_{t=1}^{N}J_t(u)\quad\text{(simplified single-texel L2)}$\end{document}</a:t>
            </a:r>
          </a:p>
          <a:p>
            <a:r>
              <a:t>Final output path: /root/sonjooho/baking_pilot/harder_dataset/scenes/industrial_c/results/textures/l2.png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median; detailed scope and paper sources: dynamic_object_baking_references_v3.md. /mnt/data/baking_revision/assets/median_eq.png</a:t>
            </a:r>
          </a:p>
          <a:p>
            <a:r>
              <a:t>Full method scope: 같은 지면 위치의 5개 학습 연도 색을 채널별 중앙값으로 합침. 별도의 역렌더링 최적화는 하지 않음. 배경이 다수로 관측되면 차량을 줄일 수 있지만, 차량이 3–4회 반복되면 차량 색을 선택할 수 있음. 관측 선택을 학습하는 방법이 아니라, 다중 시기 합성의 직접 기준선임.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T_k(u)=\operatorname{median}_{t=1,\ldots,5}J_{t,k}(u),\qquad k\in\{R,G,B\}$\end{document}</a:t>
            </a:r>
          </a:p>
          <a:p>
            <a:r>
              <a:t>Final output path: /root/sonjooho/baking_pilot/harder_dataset/scenes/industrial_c/results/textures/median.png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Sources: 개요: ppt_개요.docx | 근거: baking_pilot/PROJECT.md, PROJECT_EASY_PILOT.md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개요: ppt_개요.docx | 근거: baking_pilot/PROJECT.md, PROJECT_EASY_PILOT.md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Sources: 참조: ppt_개요.docx — Semantic conditioning 단계 / Baking 단계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참조: ppt_개요.docx — Semantic conditioning 단계 / Baking 단계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Sources: 참조: PROJECT.md Intro, PROJECT_EASY_PILOT.md | © Beeldmateriaal Nederland / PDOK, CC BY 4.0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참조: PROJECT.md Intro, PROJECT_EASY_PILOT.md | © Beeldmateriaal Nederland / PDOK, CC BY 4.0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Sources: 참조: PROJECT.md 공통 베이킹 프로세스 | 실제 사선 촬영이 아닌 반합성 카메라 설정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참조: PROJECT.md 공통 베이킹 프로세스 | 실제 사선 촬영이 아닌 반합성 카메라 설정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Sources: 참조: PROJECT.md 평가 | OBB: 차량 전체 위치의 oriented bounding box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참조: PROJECT.md 평가 | OBB: 차량 전체 위치의 oriented bounding box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uv_shadow_guard; detailed scope and paper sources: dynamic_object_baking_references_v3.md. /root/sonjooho/baking_pilot/presentation_v5/assets/shadow_simple_eq.png</a:t>
            </a:r>
          </a:p>
          <a:p>
            <a:r>
              <a:t>Full method scope: UV fusion에서 차량 주변 반경 18 texel의 어두운 관측도 추가 제외. 비차량 주변 평균 밝기의 0.72 미만을 그림자 후보로 봄. 같은 배경 합성과 미관측부 보간을 적용. 원래 어두운 포장·표식도 제외할 수 있는 밝기 휴리스틱임. 아래 가운데는 shadow guard까지 적용한 최종 Texture. 입력이나 빨간 마스크가 아니라 제거 후 결과를 비교함.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D^{\prime}=D\lor G,\quad S=1-D^{\prime},\quad G=\operatorname{nearVehicle}(D)\,\mathbf{1}[\ell&lt;0.72\bar\ell]$\end{document}</a:t>
            </a:r>
          </a:p>
          <a:p>
            <a:r>
              <a:t>Final output path: /root/sonjooho/baking_pilot/harder_dataset/improved_baselines/scenes/industrial_c/results/textures/uv_shadow_guard.png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geo_fusion; detailed scope and paper sources: dynamic_object_baking_references_v3.md. /mnt/data/baking_revision/assets/geo_eq.png</a:t>
            </a:r>
          </a:p>
          <a:p>
            <a:r>
              <a:t>Full method scope: Geometry mask는 유지하고, 평균 대신 UV fusion 결과를 Texture 초기값으로 사용함. 관측이 없는 위치에 배경 추정값을 제공한 뒤 동일한 600회 baking을 수행함. 초기값의 이득이 최적화 뒤에도 남는지 비교하는 변형. 결과는 직접 UV fusion과 다를 수 있음.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S_{t,c}^{\mathrm{geo}}(r)=\mathbf{1}\!\left[D_t\!\left(\phi_c(r)\right)\le0.05\right]$\end{document}</a:t>
            </a:r>
          </a:p>
          <a:p>
            <a:r>
              <a:t>Final output path: /root/sonjooho/baking_pilot/harder_dataset/improved_baselines/scenes/industrial_c/results/textures/geo_fusion.png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geo_smooth; detailed scope and paper sources: dynamic_object_baking_references_v3.md. /mnt/data/baking_revision/assets/prior_eq.png</a:t>
            </a:r>
          </a:p>
          <a:p>
            <a:r>
              <a:t>Full method scope: Geometry mask와 fusion 초기값에, 관측이 적은 위치일수록 강해지는 TV와 미관측부 anchor를 추가함. 불안정한 영역을 매끄럽게 하고 초기 추정값을 유지하려는 목적. 작은 차선·Texture 디테일도 흐려질 수 있음. 같은 데이터와 600회 baking을 사용하므로 아래 최종 결과에서 prior의 효과를 확인함.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\mathcal{L}_{\mathrm{total}}=\mathcal{L}_{\mathrm{data}}+\mathcal{L}_{\mathrm{color}}+0.01\mathcal{L}_{\mathrm{TV}}+0.05\mathcal{L}_{\mathrm{anchor}},\qquad w=\frac{1}{1+5q}$\end{document}</a:t>
            </a:r>
          </a:p>
          <a:p>
            <a:r>
              <a:t>Final output path: /root/sonjooho/baking_pilot/harder_dataset/improved_baselines/scenes/industrial_c/results/textures/geo_smooth.png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dino_ssim_soft; detailed scope and paper sources: dynamic_object_baking_references_v3.md. /root/sonjooho/baking_pilot/reference_study_v3/assets/ref_on_the_go_eq.png</a:t>
            </a:r>
          </a:p>
          <a:p>
            <a:r>
              <a:t>Full method scope: On-the-go의 특징→불확실성→가중치 아이디어를 차용. DINO 특징으로 변형 SSIM 오차를 설명하는 σ를 학습함. 공통 L2 warm-up에서 S를 만든 뒤 고정하고 baking. 온라인 공동 학습·dilated sampling을 포함한 원 논문 전체 재현은 아님. 이 설정에서는 σ가 하한에 붙어 S≈50으로 일정해짐. 선택 능력을 얻지 못했고 L2와의 차이는 손실 배율 영향도 포함함.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S=\frac{1}{2\beta^2},\quad\mathcal L_u=\frac{(1-L)(1-C)(1-Q)}{2\beta^2}+\lambda\log\beta$\end{document}</a:t>
            </a:r>
          </a:p>
          <a:p>
            <a:r>
              <a:t>Final output path: /root/sonjooho/baking_pilot/reference_study_v3/results/industrial_c/42/textures/dino_ssim_soft.png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dino_cosine_soft; detailed scope and paper sources: dynamic_object_baking_references_v3.md. /root/sonjooho/baking_pilot/reference_study_v3/assets/new_uncertainty_eq.png</a:t>
            </a:r>
          </a:p>
          <a:p>
            <a:r>
              <a:t>Full method scope: 입력과 L2 warm-up 렌더의 DINO cosine 차이로 불확실성 σ를 학습. 외관 차이보다 특징 차이에 반응시키려는 설정임. S=1/(2σ²)의 연속 가중치로 baking. 다음 hard 방법과 동일한 σ를 사용해 최종 선택 방식만 비교함. S가 양수여도 올바른 배경 관측을 뜻하지는 않음. 큰 soft 가중치는 데이터항과 색 정규화의 상대 배율도 바꿈.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\mathcal L_u=\frac{d}{2\sigma^2}+0.5\log\sigma,\quad S_{\mathrm{soft}}=\frac{1}{2\sigma^2},\quad S_{\mathrm{hard}}=\mathbf{1}[S_{\mathrm{soft}}&gt;1]$\end{document}</a:t>
            </a:r>
          </a:p>
          <a:p>
            <a:r>
              <a:t>Final output path: /root/sonjooho/baking_pilot/reference_study_v3/results/industrial_c/42/textures/dino_cosine_soft.png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dino_cosine_hard; detailed scope and paper sources: dynamic_object_baking_references_v3.md. /root/sonjooho/baking_pilot/reference_study_v3/assets/ref_wildgaussians_eq.png</a:t>
            </a:r>
          </a:p>
          <a:p>
            <a:r>
              <a:t>Full method scope: WildGaussians의 uncertainty→binary mask 규칙을 차용. 앞 페이지와 같은 σ에서 1/(2σ²)&gt;1인 관측만 채택함. Gaussian appearance·densification·온라인 갱신은 제외한 고정 S 이식 실험임. 지면의 약 91–95%가 관측 지지를 잃었음. 최종 결과가 덜 오염돼 보여도 평균 초기값에 남은 영역과 분리해 해석해야 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d=\min(1,2-2\cos(D,\widehat D)),\quad S=\mathbf{1}\!\left[\frac{1}{2\sigma^2}&gt;1\right]$\end{document}</a:t>
            </a:r>
          </a:p>
          <a:p>
            <a:r>
              <a:t>Final output path: /root/sonjooho/baking_pilot/reference_study_v3/results/industrial_c/42/textures/dino_cosine_hard.png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sam_region_median; detailed scope and paper sources: dynamic_object_baking_references_v3.md. /root/sonjooho/baking_pilot/presentation_v5/assets/sam_vote_eq.png</a:t>
            </a:r>
          </a:p>
          <a:p>
            <a:r>
              <a:t>Full method scope: Warm-up 잔차가 중앙값보다 큰 후보를 만들고, SAM 분리 영역에서 제외 후보 비율이 40%를 넘으면 영역 전체를 제외함. Robust 3D Gaussian Splatting의 object-aware 취지를 단순 차용. 학습형 logistic boundary와 원래 SAM IoU 절차는 생략함. 영역 경계를 보존해도 정적/동적 구분이 보장되지는 않음. 이번에는 넓은 지면을 제외하는 실패가 나타남.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S(m)=\mathbf{1}\!\left[\frac{N_{\mathrm{outlier}}(m)}{N_{\mathrm{all}}(m)}\le0.4\right]$\end{document}</a:t>
            </a:r>
          </a:p>
          <a:p>
            <a:r>
              <a:t>Final output path: /root/sonjooho/baking_pilot/reference_study_v3/results/industrial_c/42/textures/sam_region_median.png</a:t>
            </a:r>
          </a:p>
          <a:p>
            <a:r>
              <a:t>Crop: [510, 707, 734, 835]</a:t>
            </a:r>
          </a:p>
          <a:p>
            <a:r>
              <a:t>Input year: 2021; reference 2026; same first fixed OBB for every method. Imagery © Beeldmateriaal Nederland / PDOK, CC BY 4.0.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https://arxiv.org/abs/2406.20055</a:t>
            </a:r>
          </a:p>
          <a:p>
            <a:r>
              <a:t>https://github.com/lilygoli/SpotLessSplats</a:t>
            </a:r>
          </a:p>
          <a:p>
            <a:r>
              <a:t>이번에는 Stable Diffusion 특징 추출 및 SLS의 bound-supervision·pruning을 구현하지 않았다. DINO 실험을 SpotLessSplats 재현 또는 대체 구현으로 부르지 않는다.</a:t>
            </a:r>
          </a:p>
          <a:p>
            <a:r>
              <a:t>Published figure crop, authors retain copyright; not our pilot result.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https://arxiv.org/abs/2403.15704</a:t>
            </a:r>
          </a:p>
          <a:p>
            <a:r>
              <a:t>https://github.com/EastbeanZhang/Gaussian-Wild</a:t>
            </a:r>
          </a:p>
          <a:p>
            <a:r>
              <a:t>U-Net VM 및 per-Gaussian appearance는 이번 실험에서 실행하지 않았다. DINO σ와 SAM 투표는 GS-W의 visibility network 구현이 아니다.</a:t>
            </a:r>
          </a:p>
          <a:p>
            <a:r>
              <a:t>Published figure crop, authors retain copyright; not our pilot result.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v3 / 2026-10-28. 구현: baking_pilot/pilot.py:65–83, render():107 | 실제 mesh 재구성·삼각형 rasterization 없이 homography로 모사</a:t>
            </a:r>
          </a:p>
          <a:p>
            <a:r>
              <a:t>LaTeX:</a:t>
            </a:r>
          </a:p>
          <a:p>
            <a:r>
              <a:t>\documentclass[border=3pt]{standalone}\usepackage{amsmath,amssymb}\begin{document}$\displaystyle (x,y,z)=\left(\frac{120u}{N-1}-60,\;60-\frac{120v}{N-1},\;0\right),\qquad\widetilde r\sim H_c\begin{bmatrix}u&amp;v&amp;1\end{bmatrix}^{\!T}$\end{document}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>
            <a:r>
              <a:t>구현: baking_pilot/pilot.py:65–83, render():107 | 실제 mesh 재구성·삼각형 rasterization 없이 homography로 모사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reported own metrics: reference_study_v3/results/summary.json. Frozen-S transfers, not full paper reproductions.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14 shown methods + vehicle inputs + observed 2026 backgrounds. Matched first audit OBBs, seed42, left B/right C. See assets/manifest.json.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PSNR occupied3_4 mean ± sample std for 3-seed learned methods; LPIPS/static PSNR mean; direct methods single deterministic run. Sources in reference_study_v3/results/summary.json.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AF: user-requested discussion slide. Observation limited to the current planar homography pilot; not a claim that all references are class-specific semantic removal or simple image-pair differencing. UV masks are detector outputs on original aligned ortho imagery, then fused in common UV. Best vehicle PSNR/LPIPS among shown methods: UV + shadow guard. References include learned uncertainty/visibility and semantic feature/region evidence; input-versus-reconstruction residual is distinguished from direct image-to-image subtraction. Training captures are separated by years, not consecutive video frames. Heuristic concerns refer to current implementation choices. Sources: PROJECT.md, reference_study_v3/REPORT.md, protocol.json, results/summary.json. No new experiments.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102" y="90549"/>
            <a:ext cx="3119060" cy="9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15217" y="4643451"/>
            <a:ext cx="5689600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2857502"/>
            <a:ext cx="121920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80576" y="6518444"/>
            <a:ext cx="5791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27519" y="844649"/>
            <a:ext cx="11140138" cy="0"/>
          </a:xfrm>
          <a:prstGeom prst="straightConnector1">
            <a:avLst/>
          </a:prstGeom>
          <a:noFill/>
          <a:ln w="19050" cap="flat" cmpd="sng">
            <a:solidFill>
              <a:srgbClr val="254B9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09600" y="68786"/>
            <a:ext cx="10972800" cy="6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09600" y="934882"/>
            <a:ext cx="10972801" cy="555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53548A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27053" y="1268413"/>
            <a:ext cx="5418667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148923" y="1268413"/>
            <a:ext cx="5420783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193373" y="1535116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766733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09606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3276606" y="-1984373"/>
            <a:ext cx="5543551" cy="1104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 rot="5400000">
            <a:off x="7129729" y="1868754"/>
            <a:ext cx="6119812" cy="276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1"/>
          </p:nvPr>
        </p:nvSpPr>
        <p:spPr>
          <a:xfrm rot="5400000">
            <a:off x="1506807" y="-790838"/>
            <a:ext cx="6119812" cy="807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27055" y="188917"/>
            <a:ext cx="8064500" cy="69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chart" idx="2"/>
          </p:nvPr>
        </p:nvSpPr>
        <p:spPr>
          <a:xfrm>
            <a:off x="527057" y="1268413"/>
            <a:ext cx="11042649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" type="objOnly">
  <p:cSld name="OBJECT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27057" y="188914"/>
            <a:ext cx="11042649" cy="611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/>
          <p:nvPr/>
        </p:nvSpPr>
        <p:spPr>
          <a:xfrm>
            <a:off x="1199456" y="6524632"/>
            <a:ext cx="10990500" cy="333300"/>
          </a:xfrm>
          <a:prstGeom prst="rect">
            <a:avLst/>
          </a:prstGeom>
          <a:solidFill>
            <a:srgbClr val="254B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chemeClr val="dk2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199456" y="6534869"/>
            <a:ext cx="897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Vision Lab @ K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AIST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164" y="6524625"/>
            <a:ext cx="1125466" cy="3333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29.png"/><Relationship Id="rId6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5" Type="http://schemas.openxmlformats.org/officeDocument/2006/relationships/image" Target="../media/image31.png"/><Relationship Id="rId6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33.png"/><Relationship Id="rId6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4420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목표 : Texture에서 dynamic object를 제거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여러 시기·시점의 이미지를 하나의 Texture에 baking하면, 차량과 그림자도 관측값으로 들어가 잔상 또는 중첩된 색으로 남게 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정적인 지면 관측은 유지하고, 동적 물체에 해당하는 관측의 기여만 줄이는 방식이 필요함.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장소의 연도별 사진을 평면 좌표에 맞춘 뒤, 차량 관측을 제외하는 S 규칙을 비교함. 차량 흔적과 차선·지면 디테일을 함께 평가함.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최종 목표는 빈 배경이 적은 조건에서도 정적 관측을 활용하는 것. 모든 시기에 가려진 위치는 별도의 미관측 문제로 다룸.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possible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4420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Semantic conditioning 단계에서 처리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feature 또는 condition을 만들 때 dynamic object를 억제하는 방향. 재구성 모델의 표현과 학습 단계까지 영향을 줄 수 있음.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Baking 단계에서 처리 → 이번 실험에서 선택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평면 좌표와 카메라 투영 관계를 고정하고, 각 관측 픽셀의 가중치 S를 바꾸어 Texture에 반영되는 색을 선택함. 같은 baking 조건에서 선택 규칙을 비교하기 쉬움.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검증 질문 : S를 어떤 값으로 설정해야 차량을 제외하면서 정적 지면·차선·표식의 관측을 충분히 남길 수 있는가?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: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데이터 : PDOK 네덜란드 항공 정사영상. 실제 차량이 있는 산업 주차장 B / C 두 장면을 사용함.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연도 : 2021–2025의 5개 연도를 학습에 사용하고, 2026은 차량 위치의 실제 빈 배경을 확인하는 평가 영상으로 유지함.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장면 크기 : 각각 120m×120m. 모든 방법에 동일한 정합·색 정규화 영상과 고정 지면 좌표를 사용함.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고점유 조건 : 검출 경험 픽셀 중 3년 이상 차량이 점유한 비율은 B 68.1%, C 63.0%. 배경이 소수 연도에만 보이는 상황을 포함함.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비교 원칙 : 학습된 결과 Texture를 같은 차량 위치에서 확인하고, 차량 흔적 감소와 정적 지면 보존을 함께 평가함.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: What is the geometry?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744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사진으로 mesh를 복원한 실험이 아님. 120m×120m 지면을 높이 z=0인 평면으로 가정함.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정사영상의 가로·세로 좌표를 평면 x·y에 선형 대응시켜, 같은 지면 위치가 같은 Texture 위치를 사용하도록 함.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평면을 바라보는 가상 카메라 4개(0° / 20° / 35° / 45°)의 homography를 계산하고, grid sampling으로 예측 관측을 생성함.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정점·삼각형 mesh 파일 생성, 실제 3D geometry 추정과 parallax 검증은 수행하지 않음. 비교 대상은 이 조건에서의 관측 선택 규칙 S임.</a:t>
            </a:r>
          </a:p>
        </p:txBody>
      </p:sp>
      <p:pic>
        <p:nvPicPr>
          <p:cNvPr id="6" name="LaTeX: planar" descr="\documentclass[border=3pt]{standalone}\usepackage{amsmath,amssymb}\begin{document}$\displaystyle (x,y,z)=\left(\frac{120u}{N-1}-60,\;60-\frac{120v}{N-1},\;0\right),\qquad\widetilde r\sim H_c\begin{bmatrix}u&amp;v&amp;1\end{bmatrix}^{\!T}$\end{documen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970" y="5257800"/>
            <a:ext cx="6737299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: Baking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4420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전처리 : LK 특징 추적과 RANSAC으로 연도별 영상을 미세 정합하고, 모든 방법에 공통 색 정규화를 적용함.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베이킹 모사 : 지면을 z=0 평면으로 가정하고 연도별 정사영상을 0° / 20° / 35° / 45° 카메라에 투영 → 총 20개 학습 입력.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Texture 표현 : 512² 파라미터를 bilinear 보간한 1024² 출력. grid_sample로 렌더해 관측 이미지와 비교함.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최적화 : Adam 600회, batch 4, Texture lr 0.025, 색변환 lr 0.001, 색 정규화 계수 0.001. 2023 nadir 색변환은 identity 고정.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반복 실험 : Easy seed 42 / Hard seed 42, 43, 44. 직접 UV fusion은 결정적 1회이며 학습형 방법과 계산 방식이 다름.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5" name="LaTeX: loss" descr="\documentclass[border=3pt]{standalone}\usepackage{amsmath,amssymb}\begin{document}$\displaystyle \mathcal{L}_{\mathrm{data}}=\frac{\sum_{i,r}V_i(r)S_i(r)\,e_i(r)}{\max(1,\sum_{i,r}V_i(r))},\qquad e_i(r)=\frac{1}{3}\left\|I_{\mathrm{ref},i}(r)-I_{\mathrm{pred},i}(r)\right\|_2^2$\end{documen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16" y="1051560"/>
            <a:ext cx="7412647" cy="822960"/>
          </a:xfrm>
          <a:prstGeom prst="rect">
            <a:avLst/>
          </a:prstGeom>
        </p:spPr>
      </p:pic>
      <p:pic>
        <p:nvPicPr>
          <p:cNvPr id="6" name="LaTeX: prediction" descr="\documentclass[border=3pt]{standalone}\usepackage{amsmath,amssymb}\begin{document}$\displaystyle I_{\mathrm{pred},i}(r)=A_i T_\theta(\phi_i(r))+b_i,\qquad T_\theta=U_{512\to1024}(\theta)$\end{documen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526" y="1993392"/>
            <a:ext cx="7137026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88920"/>
            <a:ext cx="107442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이진 선택은 동적 픽셀 S=0, 정적 픽셀 S=1을 목표로 함. 학습형 soft 가중치는 1보다 클 수도 있음. 예측 이미지는 현재 Texture를 카메라로 렌더한 값임.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오차는 RGB 차이의 제곱 평균을 사용함. 실제 학습에는 카메라별 affine 색변환과 정규화 항도 함께 사용함.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분모는 선택된 픽셀 수가 아니라 전체 유효 픽셀 수. 따라서 S가 줄어들면 데이터 손실의 크기도 작아지는 설정임.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이후 비교는 S를 semantic 검출, 특징점·분할, 잔차, UV geometry로 각각 구성한 경우임.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: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 위치 PSNR ↑ : 학습 5회 중 3–4회 점유된 고정 OBB 21개(B4 / C17)를 2026년 실제 배경과 비교함.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LPIPS ↓ : 전체 OBB 33개(B16 / C17)의 고정 80×80 crop에서 평가. 폴리곤 바깥은 참조 영상으로 채워 비교함.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정적 PSNR ↑ : 학습·평가 영상 모두 검출 차량이 없고 연도별 색변화가 적은 지면 대조영역에서 계산함.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정성 비교 : B/C의 평가 주석 첫 OBB를 모든 방법에 똑같이 사용함. 결과 그림은 seed42이며, 출력이 좋은 위치를 골라 바꾸지 않음.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학습형 지표는 3 seeds 평균 ± 표본표준편차. 직접 중앙값·UV 합성은 결정적 1회. 연도별 배경 변화와 정합오차가 남는 proxy 평가임.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: 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모든 유효 관측을 같은 가중치 S=1로 사용. 단순한 한 texel에서는 관측의 산술평균을 맞추는 방향임.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여러 연도에 반복되면 차량 색도 Texture에 반영되어 잔상·중첩 흔적이 남을 수 있음.</a:t>
            </a:r>
          </a:p>
        </p:txBody>
      </p:sp>
      <p:pic>
        <p:nvPicPr>
          <p:cNvPr id="5" name="LaTeX: baseline_eq" descr="baseline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645" y="2834640"/>
            <a:ext cx="4111949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l2" descr="industrial_c_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: Temporal median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지면 위치의 5개 학습 연도 색을 채널별 중앙값으로 합침. 별도의 역렌더링 최적화는 하지 않음.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배경이 다수로 관측되면 차량을 줄일 수 있지만, 차량이 3–4회 반복되면 차량 색을 선택할 수 있음.</a:t>
            </a:r>
          </a:p>
        </p:txBody>
      </p:sp>
      <p:pic>
        <p:nvPicPr>
          <p:cNvPr id="5" name="LaTeX: median_eq" descr="median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43" y="2834640"/>
            <a:ext cx="7144153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median" descr="industrial_c_med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Block-NeRF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DOTA YOLO11s-OBB로 입력별 차량 영역을 검출하고, 5×5 팽창한 제외 마스크 D를 생성함.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차량으로 검출한 픽셀을 S=0으로 두고 나머지를 baking. 검출 누락과 차량 OBB 밖의 그림자는 남을 수 있음.</a:t>
            </a:r>
          </a:p>
        </p:txBody>
      </p:sp>
      <p:pic>
        <p:nvPicPr>
          <p:cNvPr id="5" name="LaTeX: block_eq" descr="block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983" y="2834640"/>
            <a:ext cx="472727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block" descr="industrial_c_b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NeRF-HuGS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4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직관 : 여러 영상에서 반복 확인되거나 예측 오차가 작은 픽셀을 정적 후보로 봄.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SAM으로 나눈 한 영역의 절반 이상이 정적 후보이면 그 영역을 Texture 학습에 사용함.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83664"/>
            <a:ext cx="2651760" cy="393192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9384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여러 영상에서 확인된 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2651760" cy="393192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68880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예측과 색이 잘 맞는 픽셀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5576" y="22677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500" b="1">
                <a:solidFill>
                  <a:srgbClr val="59677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847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정적 후보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507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9683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4859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27448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0036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4507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7096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9683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2272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94859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27448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60036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64507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97096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9683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94859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27448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60036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31920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4507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7096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9683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62272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94859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27448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60036" y="2692908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61120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3708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26296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58884" y="2295144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24060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6648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89236" y="2295144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3708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26296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58884" y="2427732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91472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24060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56648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89236" y="2427732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61120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93708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26296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58884" y="2560320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91472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24060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56648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89236" y="2560320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61120" y="2692908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93708" y="2692908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26296" y="2692908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58884" y="2692908"/>
            <a:ext cx="120700" cy="1207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491472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24060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56648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89236" y="2692908"/>
            <a:ext cx="120700" cy="1207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38928" y="22677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500" b="1">
                <a:solidFill>
                  <a:srgbClr val="59677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0" y="1856231"/>
            <a:ext cx="29260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 영역마다 후보 비율 확인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75% : 영역 전체 채택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25% : 영역 전체 제외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0768" y="22677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500" b="1">
                <a:solidFill>
                  <a:srgbClr val="59677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1847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최종 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299008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격자는 이해용 예시. 실제 구현은 큰 오차 제외·주변 보정 후 영역 투표를 하고 마지막에 경계를 조금 축소함.</a:t>
            </a:r>
          </a:p>
        </p:txBody>
      </p:sp>
      <p:pic>
        <p:nvPicPr>
          <p:cNvPr id="80" name="LaTeX: hugs_simple" descr="hugs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372" y="3154680"/>
            <a:ext cx="1400495" cy="32004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82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84" name="Actual final baking output: hugs" descr="industrial_c_hu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86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RobustNeRF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예측과의 잔차가 작은 픽셀을 inlier로 보고, 주변 픽셀과 패치의 일관성으로 S를 갱신함.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여러 번 반복돼 예측에 흡수되면 잔차가 작아져, 정적 배경처럼 계속 채택될 수 있음.</a:t>
            </a:r>
          </a:p>
        </p:txBody>
      </p:sp>
      <p:pic>
        <p:nvPicPr>
          <p:cNvPr id="5" name="LaTeX: robust_eq" descr="robust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042" y="2834640"/>
            <a:ext cx="453315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robust" descr="industrial_c_robu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Geometry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 정사영상에서 검출한 차량 마스크를 공통 UV에 두고, 알려진 homography로 각 카메라에 투영함.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연도의 네 시점이 같은 차량 검출을 공유해 시점별 독립 검출의 차이를 줄임.</a:t>
            </a:r>
          </a:p>
        </p:txBody>
      </p:sp>
      <p:pic>
        <p:nvPicPr>
          <p:cNvPr id="5" name="LaTeX: geo_eq" descr="geo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15" y="2834640"/>
            <a:ext cx="4027808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geo_mask" descr="industrial_c_geo_m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UV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공통 UV에서 차량으로 검출되지 않은 연도만 선택해, texel별 RGB 중앙값으로 직접 합성함.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배경 관측이 소수여도 활용할 수 있음. 모든 연도에 가려진 위치는 최근접 초기화와 조화 보간으로 채움.</a:t>
            </a:r>
          </a:p>
        </p:txBody>
      </p:sp>
      <p:pic>
        <p:nvPicPr>
          <p:cNvPr id="5" name="LaTeX: fusion_eq" descr="fusion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717" y="2834640"/>
            <a:ext cx="6679805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uv_fusion" descr="industrial_c_uv_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UV fusion + Shadow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UV fusion에서 차량 주변 반경 18 texel의 어두운 관측도 추가 제외. 비차량 주변 평균 밝기의 0.72 미만을 그림자 후보로 봄.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배경 합성과 미관측부 보간을 적용. 원래 어두운 포장·표식도 제외할 수 있는 밝기 휴리스틱임.</a:t>
            </a:r>
          </a:p>
        </p:txBody>
      </p:sp>
      <p:pic>
        <p:nvPicPr>
          <p:cNvPr id="5" name="LaTeX: shadow_simple_eq" descr="shadow_simple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098" y="2834640"/>
            <a:ext cx="8675043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uv_shadow_guard" descr="industrial_c_uv_shadow_gu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Geometry + Fusion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Geometry mask는 유지하고, 평균 대신 UV fusion 결과를 Texture 초기값으로 사용함.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관측이 없는 위치에 배경 추정값을 제공한 뒤 동일한 600회 baking을 수행함.</a:t>
            </a:r>
          </a:p>
        </p:txBody>
      </p:sp>
      <p:pic>
        <p:nvPicPr>
          <p:cNvPr id="5" name="LaTeX: geo_eq" descr="geo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15" y="2834640"/>
            <a:ext cx="4027808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geo_fusion" descr="industrial_c_geo_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Geometry + Spatial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Geometry mask와 fusion 초기값에, 관측이 적은 위치일수록 강해지는 TV와 미관측부 anchor를 추가함.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불안정한 영역을 매끄럽게 하고 초기 추정값을 유지하려는 목적. 작은 차선·Texture 디테일도 흐려질 수 있음.</a:t>
            </a:r>
          </a:p>
        </p:txBody>
      </p:sp>
      <p:pic>
        <p:nvPicPr>
          <p:cNvPr id="5" name="LaTeX: prior_eq" descr="prior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997" y="2834640"/>
            <a:ext cx="540324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geo_smooth" descr="industrial_c_geo_smoo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DINO : SSIM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On-the-go의 특징→불확실성→가중치 아이디어를 차용. DINO 특징으로 변형 SSIM 오차를 설명하는 σ를 학습함.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 설정에서는 σ가 하한에 붙어 S≈50으로 일정해짐. 선택 능력을 얻지 못했고 L2와의 차이는 손실 배율 영향도 포함함.</a:t>
            </a:r>
          </a:p>
        </p:txBody>
      </p:sp>
      <p:pic>
        <p:nvPicPr>
          <p:cNvPr id="5" name="LaTeX: ref_on_the_go_eq" descr="ref_on_the_go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107" y="2834640"/>
            <a:ext cx="4085025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dino_ssim_soft" descr="industrial_c_dino_ssim_so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DINO : Cosine soft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입력과 L2 warm-up 렌더의 DINO cosine 차이로 불확실성 σ를 학습. 외관 차이보다 특징 차이에 반응시키려는 설정임.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S=1/(2σ²)의 연속 가중치로 baking. 다음 hard 방법과 동일한 σ를 사용해 최종 선택 방식만 비교함.</a:t>
            </a:r>
          </a:p>
        </p:txBody>
      </p:sp>
      <p:pic>
        <p:nvPicPr>
          <p:cNvPr id="5" name="LaTeX: new_uncertainty_eq" descr="new_uncertainty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362" y="2834640"/>
            <a:ext cx="5174515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dino_cosine_soft" descr="industrial_c_dino_cosine_so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DINO : Cosine hard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WildGaussians의 uncertainty→binary mask 규칙을 차용. 앞 페이지와 같은 σ에서 1/(2σ²)&gt;1인 관측만 채택함.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지면의 약 91–95%가 관측 지지를 잃었음. 최종 결과가 덜 오염돼 보여도 평균 초기값에 남은 영역과 분리해 해석해야 함.</a:t>
            </a:r>
          </a:p>
        </p:txBody>
      </p:sp>
      <p:pic>
        <p:nvPicPr>
          <p:cNvPr id="5" name="LaTeX: ref_wildgaussians_eq" descr="ref_wildgaussians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659" y="2834640"/>
            <a:ext cx="3737920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dino_cosine_hard" descr="industrial_c_dino_cosine_h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SAM-region 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10744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Warm-up 잔차가 중앙값보다 큰 후보를 만들고, SAM 분리 영역에서 제외 후보 비율이 40%를 넘으면 영역 전체를 제외함.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영역 경계를 보존해도 정적/동적 구분이 보장되지는 않음. 이번에는 넓은 지면을 제외하는 실패가 나타남.</a:t>
            </a:r>
          </a:p>
        </p:txBody>
      </p:sp>
      <p:pic>
        <p:nvPicPr>
          <p:cNvPr id="5" name="LaTeX: sam_vote_eq" descr="sam_vote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388" y="2834640"/>
            <a:ext cx="238446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차량이 있는 입력 (2021)</a:t>
            </a:r>
          </a:p>
        </p:txBody>
      </p:sp>
      <p:pic>
        <p:nvPicPr>
          <p:cNvPr id="7" name="차량이 있는 입력 (2021)" descr="industrial_c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8337"/>
            <a:ext cx="3429000" cy="1959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최종 베이킹 Texture</a:t>
            </a:r>
          </a:p>
        </p:txBody>
      </p:sp>
      <p:pic>
        <p:nvPicPr>
          <p:cNvPr id="9" name="Actual final baking output: sam_region_median" descr="industrial_c_sam_region_med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08337"/>
            <a:ext cx="3429000" cy="195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5844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빈 배경 (2026)</a:t>
            </a:r>
          </a:p>
        </p:txBody>
      </p:sp>
      <p:pic>
        <p:nvPicPr>
          <p:cNvPr id="11" name="실제 빈 배경 (2026)" descr="industrial_c_re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08337"/>
            <a:ext cx="3429000" cy="1959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4476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동일한 C 장면 평가 위치 · seed42 · 중앙 패널은 각 방법의 최종 산출 Texture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: SpotLessSplats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4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Stable Diffusion 특징에서 의미적으로 비슷한 픽셀을 묶어 distractor의 공간 범위를 찾음.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Clustering 투표 또는 약한 잔차 label로 학습한 inlier MLP를 사용해 관측을 선택함.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점진적 masking·잔차 분포 추적·utilization pruning으로 robust mask와 3DGS 학습의 충돌을 줄임.</a:t>
            </a:r>
          </a:p>
        </p:txBody>
      </p:sp>
      <p:pic>
        <p:nvPicPr>
          <p:cNvPr id="5" name="Picture 4" descr="spotless_paper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155" y="2999232"/>
            <a:ext cx="3144929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원 논문의 최종 렌더 비교 · 자체 실험의 정량 표에는 포함하지 않음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: GS-W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33271"/>
            <a:ext cx="5303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Gaussian마다 고유한 intrinsic appearance와 조명·날씨에 따른 dynamic appearance를 분리하고, reference-image 특징을 적응적으로 샘플링해 색을 모델링함.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Transient object는 별도 U-Net의 2D visibility map VM으로 처리하며, 가시성이 낮은 위치의 영상 손실 기여를 줄임.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VM이 모든 픽셀을 가리지 못하도록 VM을 1로 유도하는 정규화를 더함. dynamic appearance는 이동 물체 자체와 같은 개념이 아님.</a:t>
            </a:r>
          </a:p>
        </p:txBody>
      </p:sp>
      <p:pic>
        <p:nvPicPr>
          <p:cNvPr id="5" name="Picture 4" descr="gs_w_paper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339" y="1097280"/>
            <a:ext cx="375268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원 논문의 최종 렌더 비교 · 파일럿에서는 U-Net visibility / Gaussian appearance 미실행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: Robust 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4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주제는 동적 물체 제거가 아니라 포즈 오차·motion/defocus blur·색 불일치에 강한 3DGS임.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카메라 포즈의 Gaussian 분포로 motion blur와 포즈를 보정하고, 투영 covariance로 defocus를 다룸.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이미지별 affine 색변환을 사용함. 차량을 식별해 제외하는 S나 transient 분리 모듈은 없음.</a:t>
            </a:r>
          </a:p>
        </p:txBody>
      </p:sp>
      <p:pic>
        <p:nvPicPr>
          <p:cNvPr id="5" name="Picture 4" descr="robust_gs_paper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13" y="2999232"/>
            <a:ext cx="8234412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원 논문의 최종 렌더 비교 · 자체 실험의 정량 표에는 포함하지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54496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이 논문은 블러·포즈·색 보정 연구. 동적 제거용 Robust 3DGS는 SAM-region 페이지와 별도 구분함.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42415"/>
            <a:ext cx="10744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조건에서는 배경 관측을 직접 모으는 UV fusion이 강한 기준선이며, shadow guard가 차량 위치 PSNR과 LPIPS를 추가 개선함.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반복 차량은 작은 잔차를 가질 수 있음. 정적 배경을 선택하는 근거와 영역 경계를 만드는 방법은 분리해서 평가해야 함.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학습된 S가 전부 같아지거나 지면을 지나치게 제외할 수도 있음. 점수뿐 아니라 최종 Texture와 관측 지지 범위를 함께 확인해야 함.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모든 시기에 가려진 배경은 실제 관측으로 복원할 수 없음. 보간·초기값·공간 prior의 추정 영역을 관측 복원과 구분함.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3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다음 검증 : 온라인 uncertainty 갱신, 가중치 스케일 통제, 실제 3D mesh·사선 사진에서 visibility와 parallax를 포함한 평가.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관찰 : 공통 UV에서 차량을 직접 검출해 제외하는 방식이 가장 효과적이었음.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이번 평면 조건에서는 원본 정사영상의 차량 마스크로 배경만 모은 UV fusion이 강했고,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shadow guard를 더했을 때 차량 위치 PSNR·LPIPS가 가장 좋았음.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24328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해석 : 시간적 움직임보다 관측의 불일치 또는 의미 정보를 이용하는 문제에 가까움.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44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사진의 촬영 시점·간격이 불규칙해 연속 프레임처럼 시간적 연속성을 기대하기 어려움.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검토한 Ref도 시간 순서 자체보다 입력과 재구성 예측의 차이·다중 시점 일관성을 보거나,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 / 특징·영역 정보를 활용해 신뢰할 관측을 선택하는 방향을 사용함.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아쉬움 : 선택 규칙에 휴리스틱이 많이 남아 있음.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10744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잔차 분위수·주변 필터·마스크 팽창·그림자 밝기 등 고정 설정에 의존함.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Ref의 학습형 모델도 있지만, 이번 단순 이식에서는 이득을 얻지 못함.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다음 질문 : 고정 규칙 의존을 줄이고, 배경 관측을 남기는 S를 학습할 수 있을까?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: All methods / 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744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모든 패널은 동일한 평가 위치 · 각 패널 왼쪽 B / 오른쪽 C · seed42</a:t>
            </a:r>
          </a:p>
        </p:txBody>
      </p:sp>
      <p:pic>
        <p:nvPicPr>
          <p:cNvPr id="5" name="Picture 4" descr="all_methods_quali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497" y="1481328"/>
            <a:ext cx="9334244" cy="4636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54496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Input / 2026 실제 배경을 포함해 모든 발표 방법의 최종 Texture를 동일 crop·색 범위로 비교함.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: All methods /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차량 위치 PSNR ↑ / LPIPS ↓ / 정적 PSNR ↑ · 각 값은 B / C 순서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72768"/>
          <a:ext cx="10744200" cy="4169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2926080"/>
                <a:gridCol w="2194560"/>
                <a:gridCol w="2468880"/>
              </a:tblGrid>
              <a:tr h="27797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방법</a:t>
                      </a:r>
                    </a:p>
                  </a:txBody>
                  <a:tcPr marT="18288" marB="0" marL="54864" marR="27432">
                    <a:solidFill>
                      <a:srgbClr val="254B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차량 위치 PSNR ↑ (B / C)</a:t>
                      </a:r>
                    </a:p>
                  </a:txBody>
                  <a:tcPr marT="18288" marB="0" marL="54864" marR="27432">
                    <a:solidFill>
                      <a:srgbClr val="254B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LPIPS ↓ (B / C)</a:t>
                      </a:r>
                    </a:p>
                  </a:txBody>
                  <a:tcPr marT="18288" marB="0" marL="54864" marR="27432">
                    <a:solidFill>
                      <a:srgbClr val="254B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정적 PSNR ↑ (B / C)</a:t>
                      </a:r>
                    </a:p>
                  </a:txBody>
                  <a:tcPr marT="18288" marB="0" marL="54864" marR="27432">
                    <a:solidFill>
                      <a:srgbClr val="254B95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19.01±0.18 / 18.69±0.24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0.149 / 0.338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21.97 / 24.40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Temporal median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18.48 / 18.85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0.119 / 0.338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24.44 / 26.45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Block-type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19.94±0.21 / 20.98±0.19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0.136 / 0.165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21.85 / 24.80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HuGS-type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18.16±0.10 / 20.89±0.09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0.127 / 0.176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21.01 / 24.33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Robust-type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14.49±0.36 / 16.00±0.40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0.173 / 0.342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19.71 / 23.83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Geometry mask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19.95±0.15 / 20.86±0.09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0.118 / 0.183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21.68 / 24.89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UV fusion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20.81 / 22.10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0.085 / 0.146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24.51 / 26.62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UV + shadow guard</a:t>
                      </a:r>
                    </a:p>
                  </a:txBody>
                  <a:tcPr marT="18288" marB="0" marL="54864" marR="27432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21.00 / 22.23</a:t>
                      </a:r>
                    </a:p>
                  </a:txBody>
                  <a:tcPr marT="18288" marB="0" marL="54864" marR="27432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0.079 / 0.130</a:t>
                      </a:r>
                    </a:p>
                  </a:txBody>
                  <a:tcPr marT="18288" marB="0" marL="54864" marR="27432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24.58 / 26.47</a:t>
                      </a:r>
                    </a:p>
                  </a:txBody>
                  <a:tcPr marT="18288" marB="0" marL="54864" marR="27432">
                    <a:solidFill>
                      <a:srgbClr val="E9F2FB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Geometry + init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19.94±0.17 / 21.33±0.10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0.118 / 0.178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21.68 / 24.90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Geometry + prior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20.39±0.23 / 21.74±0.11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0.114 / 0.170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21.83 / 25.08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DINO-SSIM soft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18.99±0.20 / 18.62±0.24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0.150 / 0.341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21.85 / 24.30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DINO-cosine soft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18.65±0.12 / 18.34±0.28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0.153 / 0.353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21.64 / 24.97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DINO-cosine hard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19.60±0.00 / 20.01±0.00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0.116 / 0.283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23.29 / 26.27</a:t>
                      </a:r>
                    </a:p>
                  </a:txBody>
                  <a:tcPr marT="18288" marB="0" marL="54864" marR="27432">
                    <a:solidFill>
                      <a:srgbClr val="F0F3F8"/>
                    </a:solidFill>
                  </a:tcPr>
                </a:tc>
              </a:tr>
              <a:tr h="277985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SAM-region vote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17.15±0.19 / 19.92±0.02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0.181 / 0.285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20.37 / 26.18</a:t>
                      </a:r>
                    </a:p>
                  </a:txBody>
                  <a:tcPr marT="18288" marB="0" marL="54864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71032"/>
            <a:ext cx="10744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학습형은 3 seeds 평균±표본표준편차. 직접 median·UV 합성은 1회. S 차용 실험을 원 논문 전체 성능으로 해석하지 않음.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40TGp_time_mono 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2209</Words>
  <Application>Microsoft Macintosh PowerPoint</Application>
  <PresentationFormat>와이드스크린</PresentationFormat>
  <Paragraphs>508</Paragraphs>
  <Slides>38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Gulim</vt:lpstr>
      <vt:lpstr>Malgun Gothic</vt:lpstr>
      <vt:lpstr>Noto Sans Symbols</vt:lpstr>
      <vt:lpstr>Arial</vt:lpstr>
      <vt:lpstr>Calibri</vt:lpstr>
      <vt:lpstr>Comic Sans MS</vt:lpstr>
      <vt:lpstr>Verdana</vt:lpstr>
      <vt:lpstr>040TGp_time_mono </vt:lpstr>
      <vt:lpstr>City Mesh meeting 9/1</vt:lpstr>
      <vt:lpstr>Topic</vt:lpstr>
      <vt:lpstr>SCube</vt:lpstr>
      <vt:lpstr>Task</vt:lpstr>
      <vt:lpstr>Relwork : Xcube</vt:lpstr>
      <vt:lpstr>Method</vt:lpstr>
      <vt:lpstr>Method</vt:lpstr>
      <vt:lpstr>Method : Refinement network</vt:lpstr>
      <vt:lpstr>Experiment</vt:lpstr>
      <vt:lpstr>Experiment</vt:lpstr>
      <vt:lpstr>Horizon GS</vt:lpstr>
      <vt:lpstr>Motivation</vt:lpstr>
      <vt:lpstr>Method</vt:lpstr>
      <vt:lpstr>Method  : Depth Supervision</vt:lpstr>
      <vt:lpstr>Experiment</vt:lpstr>
      <vt:lpstr>Experiment</vt:lpstr>
      <vt:lpstr>Experiment</vt:lpstr>
      <vt:lpstr>Discussion</vt:lpstr>
      <vt:lpstr>CityGaussianV2</vt:lpstr>
      <vt:lpstr>Task</vt:lpstr>
      <vt:lpstr>Problem statement</vt:lpstr>
      <vt:lpstr>Method (1) : Parallel training pipeline</vt:lpstr>
      <vt:lpstr>Method (2) : Elongation Filter</vt:lpstr>
      <vt:lpstr>Method (3) : Densification (DGD)</vt:lpstr>
      <vt:lpstr>Method (4) : Depth Supervision</vt:lpstr>
      <vt:lpstr>Experiment</vt:lpstr>
      <vt:lpstr>Experiment</vt:lpstr>
      <vt:lpstr>Experiment</vt:lpstr>
      <vt:lpstr>Discussion</vt:lpstr>
      <vt:lpstr>Baseline search</vt:lpstr>
      <vt:lpstr>Search criteria</vt:lpstr>
      <vt:lpstr>A. MV → Mesh : Per-scene</vt:lpstr>
      <vt:lpstr>A. MV → Mesh : Feed-forward</vt:lpstr>
      <vt:lpstr>B. MV → 3DGS : Per-scene</vt:lpstr>
      <vt:lpstr>B. MV → 3DGS : Feed-forward</vt:lpstr>
      <vt:lpstr>Ideation</vt:lpstr>
      <vt:lpstr>Ideation</vt:lpstr>
      <vt:lpstr>Ideation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정다현</dc:creator>
  <cp:lastModifiedBy>손주호</cp:lastModifiedBy>
  <cp:revision>89</cp:revision>
  <dcterms:modified xsi:type="dcterms:W3CDTF">2026-09-01T03:43:00Z</dcterms:modified>
</cp:coreProperties>
</file>